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Lst>
  <p:notesMasterIdLst>
    <p:notesMasterId r:id="rId3"/>
  </p:notesMasterIdLst>
  <p:sldSz cx="21387816" cy="30275784"/>
  <p:notesSz cx="30275784" cy="2138781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B"/>
        </a:solidFill>
      </p:bgPr>
    </p:bg>
    <p:spTree>
      <p:nvGrpSpPr>
        <p:cNvPr id="1" name=""/>
        <p:cNvGrpSpPr/>
        <p:nvPr/>
      </p:nvGrpSpPr>
      <p:grpSpPr>
        <a:xfrm>
          <a:off x="0" y="0"/>
          <a:ext cx="0" cy="0"/>
          <a:chOff x="0" y="0"/>
          <a:chExt cx="0" cy="0"/>
        </a:xfrm>
      </p:grpSpPr>
      <p:sp>
        <p:nvSpPr>
          <p:cNvPr id="2" name="Shape 0"/>
          <p:cNvSpPr/>
          <p:nvPr/>
        </p:nvSpPr>
        <p:spPr>
          <a:xfrm>
            <a:off x="0" y="0"/>
            <a:ext cx="21387816" cy="3063240"/>
          </a:xfrm>
          <a:prstGeom prst="rect">
            <a:avLst/>
          </a:prstGeom>
          <a:solidFill>
            <a:srgbClr val="1A2235"/>
          </a:solidFill>
          <a:ln/>
        </p:spPr>
      </p:sp>
      <p:sp>
        <p:nvSpPr>
          <p:cNvPr id="3" name="Shape 1"/>
          <p:cNvSpPr/>
          <p:nvPr/>
        </p:nvSpPr>
        <p:spPr>
          <a:xfrm>
            <a:off x="0" y="3063240"/>
            <a:ext cx="21387816" cy="54864"/>
          </a:xfrm>
          <a:prstGeom prst="rect">
            <a:avLst/>
          </a:prstGeom>
          <a:solidFill>
            <a:srgbClr val="F0C03E"/>
          </a:solidFill>
          <a:ln/>
        </p:spPr>
      </p:sp>
      <p:sp>
        <p:nvSpPr>
          <p:cNvPr id="4" name="Shape 2"/>
          <p:cNvSpPr/>
          <p:nvPr/>
        </p:nvSpPr>
        <p:spPr>
          <a:xfrm>
            <a:off x="17693640" y="384048"/>
            <a:ext cx="3154680" cy="2286000"/>
          </a:xfrm>
          <a:prstGeom prst="roundRect">
            <a:avLst>
              <a:gd name="adj" fmla="val 4800"/>
            </a:avLst>
          </a:prstGeom>
          <a:solidFill>
            <a:srgbClr val="FFFFFF"/>
          </a:solidFill>
          <a:ln/>
        </p:spPr>
      </p:sp>
      <p:pic>
        <p:nvPicPr>
          <p:cNvPr id="5" name="Image 0" descr="assets/alrefak-logo.png">    </p:cNvPr>
          <p:cNvPicPr>
            <a:picLocks noChangeAspect="1"/>
          </p:cNvPicPr>
          <p:nvPr/>
        </p:nvPicPr>
        <p:blipFill>
          <a:blip r:embed="rId1"/>
          <a:stretch>
            <a:fillRect/>
          </a:stretch>
        </p:blipFill>
        <p:spPr>
          <a:xfrm>
            <a:off x="17885664" y="694944"/>
            <a:ext cx="2770632" cy="1728216"/>
          </a:xfrm>
          <a:prstGeom prst="rect">
            <a:avLst/>
          </a:prstGeom>
        </p:spPr>
      </p:pic>
      <p:sp>
        <p:nvSpPr>
          <p:cNvPr id="6" name="Text 3"/>
          <p:cNvSpPr/>
          <p:nvPr/>
        </p:nvSpPr>
        <p:spPr>
          <a:xfrm>
            <a:off x="640080" y="502920"/>
            <a:ext cx="3291840" cy="914400"/>
          </a:xfrm>
          <a:prstGeom prst="rect">
            <a:avLst/>
          </a:prstGeom>
          <a:noFill/>
          <a:ln/>
        </p:spPr>
        <p:txBody>
          <a:bodyPr wrap="square" lIns="0" tIns="0" rIns="0" bIns="0" rtlCol="0" anchor="ctr"/>
          <a:lstStyle/>
          <a:p>
            <a:pPr algn="l" indent="0" marL="0">
              <a:buNone/>
            </a:pPr>
            <a:r>
              <a:rPr lang="en-US" sz="5200" b="1" i="1" dirty="0">
                <a:solidFill>
                  <a:srgbClr val="FFFFFF"/>
                </a:solidFill>
                <a:latin typeface="Georgia" pitchFamily="34" charset="0"/>
                <a:ea typeface="Georgia" pitchFamily="34" charset="-122"/>
                <a:cs typeface="Georgia" pitchFamily="34" charset="-120"/>
              </a:rPr>
              <a:t>Shama</a:t>
            </a:r>
            <a:endParaRPr lang="en-US" sz="5200" dirty="0"/>
          </a:p>
        </p:txBody>
      </p:sp>
      <p:sp>
        <p:nvSpPr>
          <p:cNvPr id="7" name="Text 4"/>
          <p:cNvSpPr/>
          <p:nvPr/>
        </p:nvSpPr>
        <p:spPr>
          <a:xfrm>
            <a:off x="640080" y="1463040"/>
            <a:ext cx="3291840" cy="502920"/>
          </a:xfrm>
          <a:prstGeom prst="rect">
            <a:avLst/>
          </a:prstGeom>
          <a:noFill/>
          <a:ln/>
        </p:spPr>
        <p:txBody>
          <a:bodyPr wrap="square" lIns="0" tIns="0" rIns="0" bIns="0" rtlCol="0" anchor="ctr"/>
          <a:lstStyle/>
          <a:p>
            <a:pPr rtl="1" algn="l" indent="0" marL="0">
              <a:buNone/>
            </a:pPr>
            <a:r>
              <a:rPr lang="en-US" sz="2000" dirty="0">
                <a:solidFill>
                  <a:srgbClr val="F0C03E"/>
                </a:solidFill>
                <a:latin typeface="Cairo" pitchFamily="34" charset="0"/>
                <a:ea typeface="Cairo" pitchFamily="34" charset="-122"/>
                <a:cs typeface="Cairo" pitchFamily="34" charset="-120"/>
              </a:rPr>
              <a:t>شمّة — عطور فاخرة</a:t>
            </a:r>
            <a:endParaRPr lang="en-US" sz="2000" dirty="0"/>
          </a:p>
        </p:txBody>
      </p:sp>
      <p:sp>
        <p:nvSpPr>
          <p:cNvPr id="8" name="Text 5"/>
          <p:cNvSpPr/>
          <p:nvPr/>
        </p:nvSpPr>
        <p:spPr>
          <a:xfrm>
            <a:off x="640080" y="2011680"/>
            <a:ext cx="3291840" cy="411480"/>
          </a:xfrm>
          <a:prstGeom prst="rect">
            <a:avLst/>
          </a:prstGeom>
          <a:noFill/>
          <a:ln/>
        </p:spPr>
        <p:txBody>
          <a:bodyPr wrap="square" lIns="0" tIns="0" rIns="0" bIns="0" rtlCol="0" anchor="ctr"/>
          <a:lstStyle/>
          <a:p>
            <a:pPr algn="l" indent="0" marL="0">
              <a:buNone/>
            </a:pPr>
            <a:r>
              <a:rPr lang="en-US" sz="1700" i="1" dirty="0">
                <a:solidFill>
                  <a:srgbClr val="CADCFC"/>
                </a:solidFill>
                <a:latin typeface="Georgia" pitchFamily="34" charset="0"/>
                <a:ea typeface="Georgia" pitchFamily="34" charset="-122"/>
                <a:cs typeface="Georgia" pitchFamily="34" charset="-120"/>
              </a:rPr>
              <a:t>shama.ly</a:t>
            </a:r>
            <a:endParaRPr lang="en-US" sz="1700" dirty="0"/>
          </a:p>
        </p:txBody>
      </p:sp>
      <p:sp>
        <p:nvSpPr>
          <p:cNvPr id="9" name="Text 6"/>
          <p:cNvSpPr/>
          <p:nvPr/>
        </p:nvSpPr>
        <p:spPr>
          <a:xfrm>
            <a:off x="4206240" y="502920"/>
            <a:ext cx="13167360" cy="1691640"/>
          </a:xfrm>
          <a:prstGeom prst="rect">
            <a:avLst/>
          </a:prstGeom>
          <a:noFill/>
          <a:ln/>
        </p:spPr>
        <p:txBody>
          <a:bodyPr wrap="square" lIns="0" tIns="0" rIns="0" bIns="0" rtlCol="0" anchor="ctr"/>
          <a:lstStyle/>
          <a:p>
            <a:pPr rtl="1" algn="ctr" indent="0" marL="0">
              <a:lnSpc>
                <a:spcPct val="112000"/>
              </a:lnSpc>
              <a:buNone/>
            </a:pPr>
            <a:r>
              <a:rPr lang="en-US" sz="4100" b="1" dirty="0">
                <a:solidFill>
                  <a:srgbClr val="FFFFFF"/>
                </a:solidFill>
                <a:latin typeface="Cairo" pitchFamily="34" charset="0"/>
                <a:ea typeface="Cairo" pitchFamily="34" charset="-122"/>
                <a:cs typeface="Cairo" pitchFamily="34" charset="-120"/>
              </a:rPr>
              <a:t>منصة تجارة إلكترونية ذكية لبيع العطور</a:t>
            </a:r>
            <a:endParaRPr lang="en-US" sz="4100" dirty="0"/>
          </a:p>
          <a:p>
            <a:pPr rtl="1" algn="ctr" indent="0" marL="0">
              <a:lnSpc>
                <a:spcPct val="112000"/>
              </a:lnSpc>
              <a:buNone/>
            </a:pPr>
            <a:r>
              <a:rPr lang="en-US" sz="4100" b="1" dirty="0">
                <a:solidFill>
                  <a:srgbClr val="FFFFFF"/>
                </a:solidFill>
                <a:latin typeface="Cairo" pitchFamily="34" charset="0"/>
                <a:ea typeface="Cairo" pitchFamily="34" charset="-122"/>
                <a:cs typeface="Cairo" pitchFamily="34" charset="-120"/>
              </a:rPr>
              <a:t>مدعومة بالذكاء الاصطناعي</a:t>
            </a:r>
            <a:endParaRPr lang="en-US" sz="4100" dirty="0"/>
          </a:p>
        </p:txBody>
      </p:sp>
      <p:sp>
        <p:nvSpPr>
          <p:cNvPr id="10" name="Text 7"/>
          <p:cNvSpPr/>
          <p:nvPr/>
        </p:nvSpPr>
        <p:spPr>
          <a:xfrm>
            <a:off x="4206240" y="2212848"/>
            <a:ext cx="13167360" cy="457200"/>
          </a:xfrm>
          <a:prstGeom prst="rect">
            <a:avLst/>
          </a:prstGeom>
          <a:noFill/>
          <a:ln/>
        </p:spPr>
        <p:txBody>
          <a:bodyPr wrap="square" lIns="0" tIns="0" rIns="0" bIns="0" rtlCol="0" anchor="ctr"/>
          <a:lstStyle/>
          <a:p>
            <a:pPr algn="ctr" indent="0" marL="0">
              <a:buNone/>
            </a:pPr>
            <a:r>
              <a:rPr lang="en-US" sz="2200" i="1" dirty="0">
                <a:solidFill>
                  <a:srgbClr val="CADCFC"/>
                </a:solidFill>
                <a:latin typeface="Georgia" pitchFamily="34" charset="0"/>
                <a:ea typeface="Georgia" pitchFamily="34" charset="-122"/>
                <a:cs typeface="Georgia" pitchFamily="34" charset="-120"/>
              </a:rPr>
              <a:t>Shama — AI-Powered Perfume E-Commerce Platform</a:t>
            </a:r>
            <a:endParaRPr lang="en-US" sz="2200" dirty="0"/>
          </a:p>
        </p:txBody>
      </p:sp>
      <p:sp>
        <p:nvSpPr>
          <p:cNvPr id="11" name="Shape 8"/>
          <p:cNvSpPr/>
          <p:nvPr/>
        </p:nvSpPr>
        <p:spPr>
          <a:xfrm>
            <a:off x="0" y="3118104"/>
            <a:ext cx="21387816" cy="841248"/>
          </a:xfrm>
          <a:prstGeom prst="rect">
            <a:avLst/>
          </a:prstGeom>
          <a:solidFill>
            <a:srgbClr val="DCE6F5"/>
          </a:solidFill>
          <a:ln/>
        </p:spPr>
      </p:sp>
      <p:sp>
        <p:nvSpPr>
          <p:cNvPr id="12" name="Text 9"/>
          <p:cNvSpPr/>
          <p:nvPr/>
        </p:nvSpPr>
        <p:spPr>
          <a:xfrm>
            <a:off x="10972800" y="3118104"/>
            <a:ext cx="9692640" cy="841248"/>
          </a:xfrm>
          <a:prstGeom prst="rect">
            <a:avLst/>
          </a:prstGeom>
          <a:noFill/>
          <a:ln/>
        </p:spPr>
        <p:txBody>
          <a:bodyPr wrap="square" lIns="0" tIns="0" rIns="0" bIns="0" rtlCol="0" anchor="ctr"/>
          <a:lstStyle/>
          <a:p>
            <a:pPr rtl="1" algn="r" indent="0" marL="0">
              <a:buNone/>
            </a:pPr>
            <a:r>
              <a:rPr lang="en-US" sz="2000" b="1" dirty="0">
                <a:solidFill>
                  <a:srgbClr val="1A2235"/>
                </a:solidFill>
                <a:latin typeface="Cairo" pitchFamily="34" charset="0"/>
                <a:ea typeface="Cairo" pitchFamily="34" charset="-122"/>
                <a:cs typeface="Cairo" pitchFamily="34" charset="-120"/>
              </a:rPr>
              <a:t>إعداد الطلاب:  </a:t>
            </a:r>
            <a:pPr rtl="1" algn="r" indent="0" marL="0">
              <a:buNone/>
            </a:pPr>
            <a:r>
              <a:rPr lang="en-US" sz="2000" dirty="0">
                <a:solidFill>
                  <a:srgbClr val="323D50"/>
                </a:solidFill>
                <a:latin typeface="Cairo" pitchFamily="34" charset="0"/>
                <a:ea typeface="Cairo" pitchFamily="34" charset="-122"/>
                <a:cs typeface="Cairo" pitchFamily="34" charset="-120"/>
              </a:rPr>
              <a:t>____________________</a:t>
            </a:r>
            <a:endParaRPr lang="en-US" sz="2000" dirty="0"/>
          </a:p>
        </p:txBody>
      </p:sp>
      <p:sp>
        <p:nvSpPr>
          <p:cNvPr id="13" name="Text 10"/>
          <p:cNvSpPr/>
          <p:nvPr/>
        </p:nvSpPr>
        <p:spPr>
          <a:xfrm>
            <a:off x="731520" y="3118104"/>
            <a:ext cx="9692640" cy="841248"/>
          </a:xfrm>
          <a:prstGeom prst="rect">
            <a:avLst/>
          </a:prstGeom>
          <a:noFill/>
          <a:ln/>
        </p:spPr>
        <p:txBody>
          <a:bodyPr wrap="square" lIns="0" tIns="0" rIns="0" bIns="0" rtlCol="0" anchor="ctr"/>
          <a:lstStyle/>
          <a:p>
            <a:pPr rtl="1" algn="r" indent="0" marL="0">
              <a:buNone/>
            </a:pPr>
            <a:r>
              <a:rPr lang="en-US" sz="2000" b="1" dirty="0">
                <a:solidFill>
                  <a:srgbClr val="1A2235"/>
                </a:solidFill>
                <a:latin typeface="Cairo" pitchFamily="34" charset="0"/>
                <a:ea typeface="Cairo" pitchFamily="34" charset="-122"/>
                <a:cs typeface="Cairo" pitchFamily="34" charset="-120"/>
              </a:rPr>
              <a:t>إشراف:  </a:t>
            </a:r>
            <a:pPr rtl="1" algn="r" indent="0" marL="0">
              <a:buNone/>
            </a:pPr>
            <a:r>
              <a:rPr lang="en-US" sz="2000" dirty="0">
                <a:solidFill>
                  <a:srgbClr val="323D50"/>
                </a:solidFill>
                <a:latin typeface="Cairo" pitchFamily="34" charset="0"/>
                <a:ea typeface="Cairo" pitchFamily="34" charset="-122"/>
                <a:cs typeface="Cairo" pitchFamily="34" charset="-120"/>
              </a:rPr>
              <a:t>د. ________________</a:t>
            </a:r>
            <a:pPr rtl="1" algn="r" indent="0" marL="0">
              <a:buNone/>
            </a:pPr>
            <a:r>
              <a:rPr lang="en-US" sz="2000" dirty="0">
                <a:solidFill>
                  <a:srgbClr val="6B7B8D"/>
                </a:solidFill>
                <a:latin typeface="Cairo" pitchFamily="34" charset="0"/>
                <a:ea typeface="Cairo" pitchFamily="34" charset="-122"/>
                <a:cs typeface="Cairo" pitchFamily="34" charset="-120"/>
              </a:rPr>
              <a:t>      |      كلية تقنية المعلومات · 2025/2026</a:t>
            </a:r>
            <a:endParaRPr lang="en-US" sz="2000" dirty="0"/>
          </a:p>
        </p:txBody>
      </p:sp>
      <p:sp>
        <p:nvSpPr>
          <p:cNvPr id="14" name="Shape 11"/>
          <p:cNvSpPr/>
          <p:nvPr/>
        </p:nvSpPr>
        <p:spPr>
          <a:xfrm>
            <a:off x="14319504" y="4297680"/>
            <a:ext cx="6428232" cy="8686800"/>
          </a:xfrm>
          <a:prstGeom prst="roundRect">
            <a:avLst>
              <a:gd name="adj" fmla="val 1280"/>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15" name="Shape 12"/>
          <p:cNvSpPr/>
          <p:nvPr/>
        </p:nvSpPr>
        <p:spPr>
          <a:xfrm>
            <a:off x="19815048" y="4572000"/>
            <a:ext cx="566928" cy="566928"/>
          </a:xfrm>
          <a:prstGeom prst="ellipse">
            <a:avLst/>
          </a:prstGeom>
          <a:solidFill>
            <a:srgbClr val="3E6BB5"/>
          </a:solidFill>
          <a:ln/>
        </p:spPr>
      </p:sp>
      <p:sp>
        <p:nvSpPr>
          <p:cNvPr id="16" name="Text 13"/>
          <p:cNvSpPr/>
          <p:nvPr/>
        </p:nvSpPr>
        <p:spPr>
          <a:xfrm>
            <a:off x="19815048" y="457200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iro" pitchFamily="34" charset="0"/>
                <a:ea typeface="Cairo" pitchFamily="34" charset="-122"/>
                <a:cs typeface="Cairo" pitchFamily="34" charset="-120"/>
              </a:rPr>
              <a:t>١</a:t>
            </a:r>
            <a:endParaRPr lang="en-US" sz="2600" dirty="0"/>
          </a:p>
        </p:txBody>
      </p:sp>
      <p:sp>
        <p:nvSpPr>
          <p:cNvPr id="17" name="Text 14"/>
          <p:cNvSpPr/>
          <p:nvPr/>
        </p:nvSpPr>
        <p:spPr>
          <a:xfrm>
            <a:off x="14685264" y="4517136"/>
            <a:ext cx="4901184" cy="676656"/>
          </a:xfrm>
          <a:prstGeom prst="rect">
            <a:avLst/>
          </a:prstGeom>
          <a:noFill/>
          <a:ln/>
        </p:spPr>
        <p:txBody>
          <a:bodyPr wrap="square" lIns="0" tIns="0" rIns="0" bIns="0" rtlCol="0" anchor="ctr"/>
          <a:lstStyle/>
          <a:p>
            <a:pPr rtl="1" algn="r" indent="0" marL="0">
              <a:buNone/>
            </a:pPr>
            <a:r>
              <a:rPr lang="en-US" sz="3000" b="1" dirty="0">
                <a:solidFill>
                  <a:srgbClr val="1A2235"/>
                </a:solidFill>
                <a:latin typeface="Cairo" pitchFamily="34" charset="0"/>
                <a:ea typeface="Cairo" pitchFamily="34" charset="-122"/>
                <a:cs typeface="Cairo" pitchFamily="34" charset="-120"/>
              </a:rPr>
              <a:t>الملخص والمشكلة</a:t>
            </a:r>
            <a:endParaRPr lang="en-US" sz="3000" dirty="0"/>
          </a:p>
        </p:txBody>
      </p:sp>
      <p:sp>
        <p:nvSpPr>
          <p:cNvPr id="18" name="Text 15"/>
          <p:cNvSpPr/>
          <p:nvPr/>
        </p:nvSpPr>
        <p:spPr>
          <a:xfrm>
            <a:off x="14685264" y="5440680"/>
            <a:ext cx="5696712" cy="3017520"/>
          </a:xfrm>
          <a:prstGeom prst="rect">
            <a:avLst/>
          </a:prstGeom>
          <a:noFill/>
          <a:ln/>
        </p:spPr>
        <p:txBody>
          <a:bodyPr wrap="square" lIns="0" tIns="0" rIns="0" bIns="0" rtlCol="0" anchor="t"/>
          <a:lstStyle/>
          <a:p>
            <a:pPr rtl="1" algn="r" indent="0" marL="0">
              <a:lnSpc>
                <a:spcPct val="125000"/>
              </a:lnSpc>
              <a:buNone/>
            </a:pPr>
            <a:r>
              <a:rPr lang="en-US" sz="2000" dirty="0">
                <a:solidFill>
                  <a:srgbClr val="323D50"/>
                </a:solidFill>
                <a:latin typeface="Cairo" pitchFamily="34" charset="0"/>
                <a:ea typeface="Cairo" pitchFamily="34" charset="-122"/>
                <a:cs typeface="Cairo" pitchFamily="34" charset="-120"/>
              </a:rPr>
              <a:t>التجارة الإلكترونية في ليبيا تنمو بسرعة، لكن قطاع العطور بقي خارج هذا التحول الرقمي. شراء العطر عبر الإنترنت يصطدم بعقبة جوهرية: العميل لا يستطيع شمّ المنتج قبل الشراء. مشروع «شمّة» يعالج هذه الفجوة عبر منصة ويب ثنائية اللغة تستخدم الذكاء الاصطناعي لمساعدة العميل على اختيار العطر المناسب كأنه يتحدث مع بائع خبير.</a:t>
            </a:r>
            <a:endParaRPr lang="en-US" sz="2000" dirty="0"/>
          </a:p>
        </p:txBody>
      </p:sp>
      <p:sp>
        <p:nvSpPr>
          <p:cNvPr id="19" name="Text 16"/>
          <p:cNvSpPr/>
          <p:nvPr/>
        </p:nvSpPr>
        <p:spPr>
          <a:xfrm>
            <a:off x="14685264" y="8641080"/>
            <a:ext cx="5696712" cy="502920"/>
          </a:xfrm>
          <a:prstGeom prst="rect">
            <a:avLst/>
          </a:prstGeom>
          <a:noFill/>
          <a:ln/>
        </p:spPr>
        <p:txBody>
          <a:bodyPr wrap="square" lIns="0" tIns="0" rIns="0" bIns="0" rtlCol="0" anchor="ctr"/>
          <a:lstStyle/>
          <a:p>
            <a:pPr rtl="1" algn="r" indent="0" marL="0">
              <a:buNone/>
            </a:pPr>
            <a:r>
              <a:rPr lang="en-US" sz="2400" b="1" dirty="0">
                <a:solidFill>
                  <a:srgbClr val="3E6BB5"/>
                </a:solidFill>
                <a:latin typeface="Cairo" pitchFamily="34" charset="0"/>
                <a:ea typeface="Cairo" pitchFamily="34" charset="-122"/>
                <a:cs typeface="Cairo" pitchFamily="34" charset="-120"/>
              </a:rPr>
              <a:t>المشكلة</a:t>
            </a:r>
            <a:endParaRPr lang="en-US" sz="2400" dirty="0"/>
          </a:p>
        </p:txBody>
      </p:sp>
      <p:sp>
        <p:nvSpPr>
          <p:cNvPr id="20" name="Text 17"/>
          <p:cNvSpPr/>
          <p:nvPr/>
        </p:nvSpPr>
        <p:spPr>
          <a:xfrm>
            <a:off x="14685264" y="9235440"/>
            <a:ext cx="5696712" cy="3474720"/>
          </a:xfrm>
          <a:prstGeom prst="rect">
            <a:avLst/>
          </a:prstGeom>
          <a:noFill/>
          <a:ln/>
        </p:spPr>
        <p:txBody>
          <a:bodyPr wrap="square" lIns="0" tIns="0" rIns="0" bIns="0" rtlCol="0" anchor="t"/>
          <a:lstStyle/>
          <a:p>
            <a:pPr rtl="1" algn="r" indent="0" marL="0">
              <a:lnSpc>
                <a:spcPct val="120000"/>
              </a:lnSpc>
              <a:spcAft>
                <a:spcPts val="1000"/>
              </a:spcAft>
              <a:buNone/>
            </a:pPr>
            <a:r>
              <a:rPr lang="en-US" sz="2000" dirty="0">
                <a:solidFill>
                  <a:srgbClr val="323D50"/>
                </a:solidFill>
                <a:latin typeface="Cairo" pitchFamily="34" charset="0"/>
                <a:ea typeface="Cairo" pitchFamily="34" charset="-122"/>
                <a:cs typeface="Cairo" pitchFamily="34" charset="-120"/>
              </a:rPr>
              <a:t>●  لا يمكن تجربة (شمّ) العطر قبل الشراء أونلاين، ما يسبب تردد العملاء.</a:t>
            </a:r>
            <a:endParaRPr lang="en-US" sz="2000" dirty="0"/>
          </a:p>
          <a:p>
            <a:pPr rtl="1" algn="r" indent="0" marL="0">
              <a:lnSpc>
                <a:spcPct val="120000"/>
              </a:lnSpc>
              <a:spcAft>
                <a:spcPts val="1000"/>
              </a:spcAft>
              <a:buNone/>
            </a:pPr>
            <a:r>
              <a:rPr lang="en-US" sz="2000" dirty="0">
                <a:solidFill>
                  <a:srgbClr val="323D50"/>
                </a:solidFill>
                <a:latin typeface="Cairo" pitchFamily="34" charset="0"/>
                <a:ea typeface="Cairo" pitchFamily="34" charset="-122"/>
                <a:cs typeface="Cairo" pitchFamily="34" charset="-120"/>
              </a:rPr>
              <a:t>●  صعوبة الاختيار من بين عشرات العطور دون استشارة خبير.</a:t>
            </a:r>
            <a:endParaRPr lang="en-US" sz="2000" dirty="0"/>
          </a:p>
          <a:p>
            <a:pPr rtl="1" algn="r" indent="0" marL="0">
              <a:lnSpc>
                <a:spcPct val="120000"/>
              </a:lnSpc>
              <a:spcAft>
                <a:spcPts val="1000"/>
              </a:spcAft>
              <a:buNone/>
            </a:pPr>
            <a:r>
              <a:rPr lang="en-US" sz="2000" dirty="0">
                <a:solidFill>
                  <a:srgbClr val="323D50"/>
                </a:solidFill>
                <a:latin typeface="Cairo" pitchFamily="34" charset="0"/>
                <a:ea typeface="Cairo" pitchFamily="34" charset="-122"/>
                <a:cs typeface="Cairo" pitchFamily="34" charset="-120"/>
              </a:rPr>
              <a:t>●  غياب منصات ليبية تدعم العربية بالكامل (RTL) بتجربة ذكية.</a:t>
            </a:r>
            <a:endParaRPr lang="en-US" sz="2000" dirty="0"/>
          </a:p>
          <a:p>
            <a:pPr rtl="1" algn="r" indent="0" marL="0">
              <a:lnSpc>
                <a:spcPct val="120000"/>
              </a:lnSpc>
              <a:spcAft>
                <a:spcPts val="1000"/>
              </a:spcAft>
              <a:buNone/>
            </a:pPr>
            <a:r>
              <a:rPr lang="en-US" sz="2000" dirty="0">
                <a:solidFill>
                  <a:srgbClr val="323D50"/>
                </a:solidFill>
                <a:latin typeface="Cairo" pitchFamily="34" charset="0"/>
                <a:ea typeface="Cairo" pitchFamily="34" charset="-122"/>
                <a:cs typeface="Cairo" pitchFamily="34" charset="-120"/>
              </a:rPr>
              <a:t>●  إدارة المتجر يدوياً تستهلك وقت وجهد صاحب المتجر.</a:t>
            </a:r>
            <a:endParaRPr lang="en-US" sz="2000" dirty="0"/>
          </a:p>
        </p:txBody>
      </p:sp>
      <p:sp>
        <p:nvSpPr>
          <p:cNvPr id="21" name="Shape 18"/>
          <p:cNvSpPr/>
          <p:nvPr/>
        </p:nvSpPr>
        <p:spPr>
          <a:xfrm>
            <a:off x="14319504" y="13395960"/>
            <a:ext cx="6428232" cy="7863840"/>
          </a:xfrm>
          <a:prstGeom prst="roundRect">
            <a:avLst>
              <a:gd name="adj" fmla="val 1280"/>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22" name="Shape 19"/>
          <p:cNvSpPr/>
          <p:nvPr/>
        </p:nvSpPr>
        <p:spPr>
          <a:xfrm>
            <a:off x="19815048" y="13670280"/>
            <a:ext cx="566928" cy="566928"/>
          </a:xfrm>
          <a:prstGeom prst="ellipse">
            <a:avLst/>
          </a:prstGeom>
          <a:solidFill>
            <a:srgbClr val="3E6BB5"/>
          </a:solidFill>
          <a:ln/>
        </p:spPr>
      </p:sp>
      <p:sp>
        <p:nvSpPr>
          <p:cNvPr id="23" name="Text 20"/>
          <p:cNvSpPr/>
          <p:nvPr/>
        </p:nvSpPr>
        <p:spPr>
          <a:xfrm>
            <a:off x="19815048" y="1367028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iro" pitchFamily="34" charset="0"/>
                <a:ea typeface="Cairo" pitchFamily="34" charset="-122"/>
                <a:cs typeface="Cairo" pitchFamily="34" charset="-120"/>
              </a:rPr>
              <a:t>٢</a:t>
            </a:r>
            <a:endParaRPr lang="en-US" sz="2600" dirty="0"/>
          </a:p>
        </p:txBody>
      </p:sp>
      <p:sp>
        <p:nvSpPr>
          <p:cNvPr id="24" name="Text 21"/>
          <p:cNvSpPr/>
          <p:nvPr/>
        </p:nvSpPr>
        <p:spPr>
          <a:xfrm>
            <a:off x="14685264" y="13615416"/>
            <a:ext cx="4901184" cy="676656"/>
          </a:xfrm>
          <a:prstGeom prst="rect">
            <a:avLst/>
          </a:prstGeom>
          <a:noFill/>
          <a:ln/>
        </p:spPr>
        <p:txBody>
          <a:bodyPr wrap="square" lIns="0" tIns="0" rIns="0" bIns="0" rtlCol="0" anchor="ctr"/>
          <a:lstStyle/>
          <a:p>
            <a:pPr rtl="1" algn="r" indent="0" marL="0">
              <a:buNone/>
            </a:pPr>
            <a:r>
              <a:rPr lang="en-US" sz="3000" b="1" dirty="0">
                <a:solidFill>
                  <a:srgbClr val="1A2235"/>
                </a:solidFill>
                <a:latin typeface="Cairo" pitchFamily="34" charset="0"/>
                <a:ea typeface="Cairo" pitchFamily="34" charset="-122"/>
                <a:cs typeface="Cairo" pitchFamily="34" charset="-120"/>
              </a:rPr>
              <a:t>الحل المقترح</a:t>
            </a:r>
            <a:endParaRPr lang="en-US" sz="3000" dirty="0"/>
          </a:p>
        </p:txBody>
      </p:sp>
      <p:sp>
        <p:nvSpPr>
          <p:cNvPr id="25" name="Shape 22"/>
          <p:cNvSpPr/>
          <p:nvPr/>
        </p:nvSpPr>
        <p:spPr>
          <a:xfrm>
            <a:off x="20217384" y="14639544"/>
            <a:ext cx="164592" cy="164592"/>
          </a:xfrm>
          <a:prstGeom prst="ellipse">
            <a:avLst/>
          </a:prstGeom>
          <a:solidFill>
            <a:srgbClr val="F0C03E"/>
          </a:solidFill>
          <a:ln/>
        </p:spPr>
      </p:sp>
      <p:sp>
        <p:nvSpPr>
          <p:cNvPr id="26" name="Text 23"/>
          <p:cNvSpPr/>
          <p:nvPr/>
        </p:nvSpPr>
        <p:spPr>
          <a:xfrm>
            <a:off x="14685264" y="14493240"/>
            <a:ext cx="5376672" cy="1234440"/>
          </a:xfrm>
          <a:prstGeom prst="rect">
            <a:avLst/>
          </a:prstGeom>
          <a:noFill/>
          <a:ln/>
        </p:spPr>
        <p:txBody>
          <a:bodyPr wrap="square" lIns="0" tIns="0" rIns="0" bIns="0" rtlCol="0" anchor="t"/>
          <a:lstStyle/>
          <a:p>
            <a:pPr rtl="1" algn="r" indent="0" marL="0">
              <a:lnSpc>
                <a:spcPct val="118000"/>
              </a:lnSpc>
              <a:buNone/>
            </a:pPr>
            <a:r>
              <a:rPr lang="en-US" sz="1900" b="1" dirty="0">
                <a:solidFill>
                  <a:srgbClr val="3E6BB5"/>
                </a:solidFill>
                <a:latin typeface="Cairo" pitchFamily="34" charset="0"/>
                <a:ea typeface="Cairo" pitchFamily="34" charset="-122"/>
                <a:cs typeface="Cairo" pitchFamily="34" charset="-120"/>
              </a:rPr>
              <a:t>مساعد ذكاء اصطناعي  —  </a:t>
            </a:r>
            <a:pPr rtl="1" algn="r" indent="0" marL="0">
              <a:lnSpc>
                <a:spcPct val="118000"/>
              </a:lnSpc>
              <a:buNone/>
            </a:pPr>
            <a:r>
              <a:rPr lang="en-US" sz="1900" dirty="0">
                <a:solidFill>
                  <a:srgbClr val="323D50"/>
                </a:solidFill>
                <a:latin typeface="Cairo" pitchFamily="34" charset="0"/>
                <a:ea typeface="Cairo" pitchFamily="34" charset="-122"/>
                <a:cs typeface="Cairo" pitchFamily="34" charset="-120"/>
              </a:rPr>
              <a:t>شات بوت يعرف كامل الكتالوج + اختبار شخصية عطرية + بحث ذكي بالوصف الطبيعي.</a:t>
            </a:r>
            <a:endParaRPr lang="en-US" sz="1900" dirty="0"/>
          </a:p>
        </p:txBody>
      </p:sp>
      <p:sp>
        <p:nvSpPr>
          <p:cNvPr id="27" name="Shape 24"/>
          <p:cNvSpPr/>
          <p:nvPr/>
        </p:nvSpPr>
        <p:spPr>
          <a:xfrm>
            <a:off x="20217384" y="15965424"/>
            <a:ext cx="164592" cy="164592"/>
          </a:xfrm>
          <a:prstGeom prst="ellipse">
            <a:avLst/>
          </a:prstGeom>
          <a:solidFill>
            <a:srgbClr val="F0C03E"/>
          </a:solidFill>
          <a:ln/>
        </p:spPr>
      </p:sp>
      <p:sp>
        <p:nvSpPr>
          <p:cNvPr id="28" name="Text 25"/>
          <p:cNvSpPr/>
          <p:nvPr/>
        </p:nvSpPr>
        <p:spPr>
          <a:xfrm>
            <a:off x="14685264" y="15819120"/>
            <a:ext cx="5376672" cy="1234440"/>
          </a:xfrm>
          <a:prstGeom prst="rect">
            <a:avLst/>
          </a:prstGeom>
          <a:noFill/>
          <a:ln/>
        </p:spPr>
        <p:txBody>
          <a:bodyPr wrap="square" lIns="0" tIns="0" rIns="0" bIns="0" rtlCol="0" anchor="t"/>
          <a:lstStyle/>
          <a:p>
            <a:pPr rtl="1" algn="r" indent="0" marL="0">
              <a:lnSpc>
                <a:spcPct val="118000"/>
              </a:lnSpc>
              <a:buNone/>
            </a:pPr>
            <a:r>
              <a:rPr lang="en-US" sz="1900" b="1" dirty="0">
                <a:solidFill>
                  <a:srgbClr val="3E6BB5"/>
                </a:solidFill>
                <a:latin typeface="Cairo" pitchFamily="34" charset="0"/>
                <a:ea typeface="Cairo" pitchFamily="34" charset="-122"/>
                <a:cs typeface="Cairo" pitchFamily="34" charset="-120"/>
              </a:rPr>
              <a:t>نظام العينات  —  </a:t>
            </a:r>
            <a:pPr rtl="1" algn="r" indent="0" marL="0">
              <a:lnSpc>
                <a:spcPct val="118000"/>
              </a:lnSpc>
              <a:buNone/>
            </a:pPr>
            <a:r>
              <a:rPr lang="en-US" sz="1900" dirty="0">
                <a:solidFill>
                  <a:srgbClr val="323D50"/>
                </a:solidFill>
                <a:latin typeface="Cairo" pitchFamily="34" charset="0"/>
                <a:ea typeface="Cairo" pitchFamily="34" charset="-122"/>
                <a:cs typeface="Cairo" pitchFamily="34" charset="-120"/>
              </a:rPr>
              <a:t>تجربة العطر بحجم من 3 إلى 30 مل بسعر رمزي قبل شراء الزجاجة — حل مشكلة الشمّ.</a:t>
            </a:r>
            <a:endParaRPr lang="en-US" sz="1900" dirty="0"/>
          </a:p>
        </p:txBody>
      </p:sp>
      <p:sp>
        <p:nvSpPr>
          <p:cNvPr id="29" name="Shape 26"/>
          <p:cNvSpPr/>
          <p:nvPr/>
        </p:nvSpPr>
        <p:spPr>
          <a:xfrm>
            <a:off x="20217384" y="17291304"/>
            <a:ext cx="164592" cy="164592"/>
          </a:xfrm>
          <a:prstGeom prst="ellipse">
            <a:avLst/>
          </a:prstGeom>
          <a:solidFill>
            <a:srgbClr val="F0C03E"/>
          </a:solidFill>
          <a:ln/>
        </p:spPr>
      </p:sp>
      <p:sp>
        <p:nvSpPr>
          <p:cNvPr id="30" name="Text 27"/>
          <p:cNvSpPr/>
          <p:nvPr/>
        </p:nvSpPr>
        <p:spPr>
          <a:xfrm>
            <a:off x="14685264" y="17145000"/>
            <a:ext cx="5376672" cy="1234440"/>
          </a:xfrm>
          <a:prstGeom prst="rect">
            <a:avLst/>
          </a:prstGeom>
          <a:noFill/>
          <a:ln/>
        </p:spPr>
        <p:txBody>
          <a:bodyPr wrap="square" lIns="0" tIns="0" rIns="0" bIns="0" rtlCol="0" anchor="t"/>
          <a:lstStyle/>
          <a:p>
            <a:pPr rtl="1" algn="r" indent="0" marL="0">
              <a:lnSpc>
                <a:spcPct val="118000"/>
              </a:lnSpc>
              <a:buNone/>
            </a:pPr>
            <a:r>
              <a:rPr lang="en-US" sz="1900" b="1" dirty="0">
                <a:solidFill>
                  <a:srgbClr val="3E6BB5"/>
                </a:solidFill>
                <a:latin typeface="Cairo" pitchFamily="34" charset="0"/>
                <a:ea typeface="Cairo" pitchFamily="34" charset="-122"/>
                <a:cs typeface="Cairo" pitchFamily="34" charset="-120"/>
              </a:rPr>
              <a:t>تجارة إلكترونية كاملة  —  </a:t>
            </a:r>
            <a:pPr rtl="1" algn="r" indent="0" marL="0">
              <a:lnSpc>
                <a:spcPct val="118000"/>
              </a:lnSpc>
              <a:buNone/>
            </a:pPr>
            <a:r>
              <a:rPr lang="en-US" sz="1900" dirty="0">
                <a:solidFill>
                  <a:srgbClr val="323D50"/>
                </a:solidFill>
                <a:latin typeface="Cairo" pitchFamily="34" charset="0"/>
                <a:ea typeface="Cairo" pitchFamily="34" charset="-122"/>
                <a:cs typeface="Cairo" pitchFamily="34" charset="-120"/>
              </a:rPr>
              <a:t>سلة، كوبونات، أطقم هدايا، قائمة أمنيات، وتتبع لحظي عبر تكامل Vanex.</a:t>
            </a:r>
            <a:endParaRPr lang="en-US" sz="1900" dirty="0"/>
          </a:p>
        </p:txBody>
      </p:sp>
      <p:sp>
        <p:nvSpPr>
          <p:cNvPr id="31" name="Shape 28"/>
          <p:cNvSpPr/>
          <p:nvPr/>
        </p:nvSpPr>
        <p:spPr>
          <a:xfrm>
            <a:off x="20217384" y="18617184"/>
            <a:ext cx="164592" cy="164592"/>
          </a:xfrm>
          <a:prstGeom prst="ellipse">
            <a:avLst/>
          </a:prstGeom>
          <a:solidFill>
            <a:srgbClr val="F0C03E"/>
          </a:solidFill>
          <a:ln/>
        </p:spPr>
      </p:sp>
      <p:sp>
        <p:nvSpPr>
          <p:cNvPr id="32" name="Text 29"/>
          <p:cNvSpPr/>
          <p:nvPr/>
        </p:nvSpPr>
        <p:spPr>
          <a:xfrm>
            <a:off x="14685264" y="18470880"/>
            <a:ext cx="5376672" cy="1234440"/>
          </a:xfrm>
          <a:prstGeom prst="rect">
            <a:avLst/>
          </a:prstGeom>
          <a:noFill/>
          <a:ln/>
        </p:spPr>
        <p:txBody>
          <a:bodyPr wrap="square" lIns="0" tIns="0" rIns="0" bIns="0" rtlCol="0" anchor="t"/>
          <a:lstStyle/>
          <a:p>
            <a:pPr rtl="1" algn="r" indent="0" marL="0">
              <a:lnSpc>
                <a:spcPct val="118000"/>
              </a:lnSpc>
              <a:buNone/>
            </a:pPr>
            <a:r>
              <a:rPr lang="en-US" sz="1900" b="1" dirty="0">
                <a:solidFill>
                  <a:srgbClr val="3E6BB5"/>
                </a:solidFill>
                <a:latin typeface="Cairo" pitchFamily="34" charset="0"/>
                <a:ea typeface="Cairo" pitchFamily="34" charset="-122"/>
                <a:cs typeface="Cairo" pitchFamily="34" charset="-120"/>
              </a:rPr>
              <a:t>إدارة ذكية  —  </a:t>
            </a:r>
            <a:pPr rtl="1" algn="r" indent="0" marL="0">
              <a:lnSpc>
                <a:spcPct val="118000"/>
              </a:lnSpc>
              <a:buNone/>
            </a:pPr>
            <a:r>
              <a:rPr lang="en-US" sz="1900" dirty="0">
                <a:solidFill>
                  <a:srgbClr val="323D50"/>
                </a:solidFill>
                <a:latin typeface="Cairo" pitchFamily="34" charset="0"/>
                <a:ea typeface="Cairo" pitchFamily="34" charset="-122"/>
                <a:cs typeface="Cairo" pitchFamily="34" charset="-120"/>
              </a:rPr>
              <a:t>لوحة تحكم + بوت تيليجرام لإدارة المتجر من الهاتف + فلترة المراجعات بالذكاء الاصطناعي.</a:t>
            </a:r>
            <a:endParaRPr lang="en-US" sz="1900" dirty="0"/>
          </a:p>
        </p:txBody>
      </p:sp>
      <p:sp>
        <p:nvSpPr>
          <p:cNvPr id="33" name="Shape 30"/>
          <p:cNvSpPr/>
          <p:nvPr/>
        </p:nvSpPr>
        <p:spPr>
          <a:xfrm>
            <a:off x="20217384" y="19943064"/>
            <a:ext cx="164592" cy="164592"/>
          </a:xfrm>
          <a:prstGeom prst="ellipse">
            <a:avLst/>
          </a:prstGeom>
          <a:solidFill>
            <a:srgbClr val="F0C03E"/>
          </a:solidFill>
          <a:ln/>
        </p:spPr>
      </p:sp>
      <p:sp>
        <p:nvSpPr>
          <p:cNvPr id="34" name="Text 31"/>
          <p:cNvSpPr/>
          <p:nvPr/>
        </p:nvSpPr>
        <p:spPr>
          <a:xfrm>
            <a:off x="14685264" y="19796760"/>
            <a:ext cx="5376672" cy="1234440"/>
          </a:xfrm>
          <a:prstGeom prst="rect">
            <a:avLst/>
          </a:prstGeom>
          <a:noFill/>
          <a:ln/>
        </p:spPr>
        <p:txBody>
          <a:bodyPr wrap="square" lIns="0" tIns="0" rIns="0" bIns="0" rtlCol="0" anchor="t"/>
          <a:lstStyle/>
          <a:p>
            <a:pPr rtl="1" algn="r" indent="0" marL="0">
              <a:lnSpc>
                <a:spcPct val="118000"/>
              </a:lnSpc>
              <a:buNone/>
            </a:pPr>
            <a:r>
              <a:rPr lang="en-US" sz="1900" b="1" dirty="0">
                <a:solidFill>
                  <a:srgbClr val="3E6BB5"/>
                </a:solidFill>
                <a:latin typeface="Cairo" pitchFamily="34" charset="0"/>
                <a:ea typeface="Cairo" pitchFamily="34" charset="-122"/>
                <a:cs typeface="Cairo" pitchFamily="34" charset="-120"/>
              </a:rPr>
              <a:t>تسويق آلي  —  </a:t>
            </a:r>
            <a:pPr rtl="1" algn="r" indent="0" marL="0">
              <a:lnSpc>
                <a:spcPct val="118000"/>
              </a:lnSpc>
              <a:buNone/>
            </a:pPr>
            <a:r>
              <a:rPr lang="en-US" sz="1900" dirty="0">
                <a:solidFill>
                  <a:srgbClr val="323D50"/>
                </a:solidFill>
                <a:latin typeface="Cairo" pitchFamily="34" charset="0"/>
                <a:ea typeface="Cairo" pitchFamily="34" charset="-122"/>
                <a:cs typeface="Cairo" pitchFamily="34" charset="-120"/>
              </a:rPr>
              <a:t>تحليل ليلي لاهتمامات كل مستخدم وإرسال إيميلات مخصصة عند وصول عطور تناسبه.</a:t>
            </a:r>
            <a:endParaRPr lang="en-US" sz="1900" dirty="0"/>
          </a:p>
        </p:txBody>
      </p:sp>
      <p:sp>
        <p:nvSpPr>
          <p:cNvPr id="35" name="Shape 32"/>
          <p:cNvSpPr/>
          <p:nvPr/>
        </p:nvSpPr>
        <p:spPr>
          <a:xfrm>
            <a:off x="14319504" y="21671280"/>
            <a:ext cx="6428232" cy="6766560"/>
          </a:xfrm>
          <a:prstGeom prst="roundRect">
            <a:avLst>
              <a:gd name="adj" fmla="val 1280"/>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36" name="Shape 33"/>
          <p:cNvSpPr/>
          <p:nvPr/>
        </p:nvSpPr>
        <p:spPr>
          <a:xfrm>
            <a:off x="19815048" y="21945600"/>
            <a:ext cx="566928" cy="566928"/>
          </a:xfrm>
          <a:prstGeom prst="ellipse">
            <a:avLst/>
          </a:prstGeom>
          <a:solidFill>
            <a:srgbClr val="3E6BB5"/>
          </a:solidFill>
          <a:ln/>
        </p:spPr>
      </p:sp>
      <p:sp>
        <p:nvSpPr>
          <p:cNvPr id="37" name="Text 34"/>
          <p:cNvSpPr/>
          <p:nvPr/>
        </p:nvSpPr>
        <p:spPr>
          <a:xfrm>
            <a:off x="19815048" y="2194560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iro" pitchFamily="34" charset="0"/>
                <a:ea typeface="Cairo" pitchFamily="34" charset="-122"/>
                <a:cs typeface="Cairo" pitchFamily="34" charset="-120"/>
              </a:rPr>
              <a:t>٣</a:t>
            </a:r>
            <a:endParaRPr lang="en-US" sz="2600" dirty="0"/>
          </a:p>
        </p:txBody>
      </p:sp>
      <p:sp>
        <p:nvSpPr>
          <p:cNvPr id="38" name="Text 35"/>
          <p:cNvSpPr/>
          <p:nvPr/>
        </p:nvSpPr>
        <p:spPr>
          <a:xfrm>
            <a:off x="14685264" y="21890736"/>
            <a:ext cx="4901184" cy="676656"/>
          </a:xfrm>
          <a:prstGeom prst="rect">
            <a:avLst/>
          </a:prstGeom>
          <a:noFill/>
          <a:ln/>
        </p:spPr>
        <p:txBody>
          <a:bodyPr wrap="square" lIns="0" tIns="0" rIns="0" bIns="0" rtlCol="0" anchor="ctr"/>
          <a:lstStyle/>
          <a:p>
            <a:pPr rtl="1" algn="r" indent="0" marL="0">
              <a:buNone/>
            </a:pPr>
            <a:r>
              <a:rPr lang="en-US" sz="3000" b="1" dirty="0">
                <a:solidFill>
                  <a:srgbClr val="1A2235"/>
                </a:solidFill>
                <a:latin typeface="Cairo" pitchFamily="34" charset="0"/>
                <a:ea typeface="Cairo" pitchFamily="34" charset="-122"/>
                <a:cs typeface="Cairo" pitchFamily="34" charset="-120"/>
              </a:rPr>
              <a:t>الأهداف</a:t>
            </a:r>
            <a:endParaRPr lang="en-US" sz="3000" dirty="0"/>
          </a:p>
        </p:txBody>
      </p:sp>
      <p:sp>
        <p:nvSpPr>
          <p:cNvPr id="39" name="Text 36"/>
          <p:cNvSpPr/>
          <p:nvPr/>
        </p:nvSpPr>
        <p:spPr>
          <a:xfrm>
            <a:off x="14685264" y="22860000"/>
            <a:ext cx="5696712" cy="4206240"/>
          </a:xfrm>
          <a:prstGeom prst="rect">
            <a:avLst/>
          </a:prstGeom>
          <a:noFill/>
          <a:ln/>
        </p:spPr>
        <p:txBody>
          <a:bodyPr wrap="square" lIns="0" tIns="0" rIns="0" bIns="0" rtlCol="0" anchor="t"/>
          <a:lstStyle/>
          <a:p>
            <a:pPr rtl="1" algn="r" indent="0" marL="0">
              <a:lnSpc>
                <a:spcPct val="122000"/>
              </a:lnSpc>
              <a:spcAft>
                <a:spcPts val="1400"/>
              </a:spcAft>
              <a:buNone/>
            </a:pPr>
            <a:r>
              <a:rPr lang="en-US" sz="2000" dirty="0">
                <a:solidFill>
                  <a:srgbClr val="323D50"/>
                </a:solidFill>
                <a:latin typeface="Cairo" pitchFamily="34" charset="0"/>
                <a:ea typeface="Cairo" pitchFamily="34" charset="-122"/>
                <a:cs typeface="Cairo" pitchFamily="34" charset="-120"/>
              </a:rPr>
              <a:t>●  رفع ثقة العميل في شراء العطور أونلاين عبر العينات والمراجعات الموثوقة.</a:t>
            </a:r>
            <a:endParaRPr lang="en-US" sz="2000" dirty="0"/>
          </a:p>
          <a:p>
            <a:pPr rtl="1" algn="r" indent="0" marL="0">
              <a:lnSpc>
                <a:spcPct val="122000"/>
              </a:lnSpc>
              <a:spcAft>
                <a:spcPts val="1400"/>
              </a:spcAft>
              <a:buNone/>
            </a:pPr>
            <a:r>
              <a:rPr lang="en-US" sz="2000" dirty="0">
                <a:solidFill>
                  <a:srgbClr val="323D50"/>
                </a:solidFill>
                <a:latin typeface="Cairo" pitchFamily="34" charset="0"/>
                <a:ea typeface="Cairo" pitchFamily="34" charset="-122"/>
                <a:cs typeface="Cairo" pitchFamily="34" charset="-120"/>
              </a:rPr>
              <a:t>●  تقديم توصيات شخصية دقيقة باستخدام نماذج لغوية حديثة LLMs.</a:t>
            </a:r>
            <a:endParaRPr lang="en-US" sz="2000" dirty="0"/>
          </a:p>
          <a:p>
            <a:pPr rtl="1" algn="r" indent="0" marL="0">
              <a:lnSpc>
                <a:spcPct val="122000"/>
              </a:lnSpc>
              <a:spcAft>
                <a:spcPts val="1400"/>
              </a:spcAft>
              <a:buNone/>
            </a:pPr>
            <a:r>
              <a:rPr lang="en-US" sz="2000" dirty="0">
                <a:solidFill>
                  <a:srgbClr val="323D50"/>
                </a:solidFill>
                <a:latin typeface="Cairo" pitchFamily="34" charset="0"/>
                <a:ea typeface="Cairo" pitchFamily="34" charset="-122"/>
                <a:cs typeface="Cairo" pitchFamily="34" charset="-120"/>
              </a:rPr>
              <a:t>●  دعم كامل للغة العربية (RTL) والإنجليزية في كل شاشة.</a:t>
            </a:r>
            <a:endParaRPr lang="en-US" sz="2000" dirty="0"/>
          </a:p>
          <a:p>
            <a:pPr rtl="1" algn="r" indent="0" marL="0">
              <a:lnSpc>
                <a:spcPct val="122000"/>
              </a:lnSpc>
              <a:spcAft>
                <a:spcPts val="1400"/>
              </a:spcAft>
              <a:buNone/>
            </a:pPr>
            <a:r>
              <a:rPr lang="en-US" sz="2000" dirty="0">
                <a:solidFill>
                  <a:srgbClr val="323D50"/>
                </a:solidFill>
                <a:latin typeface="Cairo" pitchFamily="34" charset="0"/>
                <a:ea typeface="Cairo" pitchFamily="34" charset="-122"/>
                <a:cs typeface="Cairo" pitchFamily="34" charset="-120"/>
              </a:rPr>
              <a:t>●  أتمتة إدارة المتجر والتسويق لتقليل الجهد اليدوي.</a:t>
            </a:r>
            <a:endParaRPr lang="en-US" sz="2000" dirty="0"/>
          </a:p>
          <a:p>
            <a:pPr rtl="1" algn="r" indent="0" marL="0">
              <a:lnSpc>
                <a:spcPct val="122000"/>
              </a:lnSpc>
              <a:spcAft>
                <a:spcPts val="1400"/>
              </a:spcAft>
              <a:buNone/>
            </a:pPr>
            <a:r>
              <a:rPr lang="en-US" sz="2000" dirty="0">
                <a:solidFill>
                  <a:srgbClr val="323D50"/>
                </a:solidFill>
                <a:latin typeface="Cairo" pitchFamily="34" charset="0"/>
                <a:ea typeface="Cairo" pitchFamily="34" charset="-122"/>
                <a:cs typeface="Cairo" pitchFamily="34" charset="-120"/>
              </a:rPr>
              <a:t>●  بنية قابلة للتوسع بتكلفة تشغيل منخفضة عبر استضافة ثابتة وخدمات Serverless.</a:t>
            </a:r>
            <a:endParaRPr lang="en-US" sz="2000" dirty="0"/>
          </a:p>
        </p:txBody>
      </p:sp>
      <p:sp>
        <p:nvSpPr>
          <p:cNvPr id="40" name="Shape 37"/>
          <p:cNvSpPr/>
          <p:nvPr/>
        </p:nvSpPr>
        <p:spPr>
          <a:xfrm>
            <a:off x="14685264" y="27294840"/>
            <a:ext cx="5696712" cy="868680"/>
          </a:xfrm>
          <a:prstGeom prst="roundRect">
            <a:avLst>
              <a:gd name="adj" fmla="val 9474"/>
            </a:avLst>
          </a:prstGeom>
          <a:solidFill>
            <a:srgbClr val="DCE6F5"/>
          </a:solidFill>
          <a:ln/>
        </p:spPr>
      </p:sp>
      <p:sp>
        <p:nvSpPr>
          <p:cNvPr id="41" name="Text 38"/>
          <p:cNvSpPr/>
          <p:nvPr/>
        </p:nvSpPr>
        <p:spPr>
          <a:xfrm>
            <a:off x="14822424" y="27294840"/>
            <a:ext cx="5422392" cy="868680"/>
          </a:xfrm>
          <a:prstGeom prst="rect">
            <a:avLst/>
          </a:prstGeom>
          <a:noFill/>
          <a:ln/>
        </p:spPr>
        <p:txBody>
          <a:bodyPr wrap="square" lIns="0" tIns="0" rIns="0" bIns="0" rtlCol="0" anchor="ctr"/>
          <a:lstStyle/>
          <a:p>
            <a:pPr rtl="1" algn="ctr" indent="0" marL="0">
              <a:buNone/>
            </a:pPr>
            <a:r>
              <a:rPr lang="en-US" sz="1750" b="1" dirty="0">
                <a:solidFill>
                  <a:srgbClr val="3E6BB5"/>
                </a:solidFill>
                <a:latin typeface="Cairo" pitchFamily="34" charset="0"/>
                <a:ea typeface="Cairo" pitchFamily="34" charset="-122"/>
                <a:cs typeface="Cairo" pitchFamily="34" charset="-120"/>
              </a:rPr>
              <a:t>المحصلة: العميل يجرّب قبل أن يشتري، والذكاء الاصطناعي يرشده بلغته.</a:t>
            </a:r>
            <a:endParaRPr lang="en-US" sz="1750" dirty="0"/>
          </a:p>
        </p:txBody>
      </p:sp>
      <p:sp>
        <p:nvSpPr>
          <p:cNvPr id="42" name="Shape 39"/>
          <p:cNvSpPr/>
          <p:nvPr/>
        </p:nvSpPr>
        <p:spPr>
          <a:xfrm>
            <a:off x="7479792" y="4297680"/>
            <a:ext cx="6428232" cy="11338560"/>
          </a:xfrm>
          <a:prstGeom prst="roundRect">
            <a:avLst>
              <a:gd name="adj" fmla="val 1280"/>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43" name="Shape 40"/>
          <p:cNvSpPr/>
          <p:nvPr/>
        </p:nvSpPr>
        <p:spPr>
          <a:xfrm>
            <a:off x="12975336" y="4572000"/>
            <a:ext cx="566928" cy="566928"/>
          </a:xfrm>
          <a:prstGeom prst="ellipse">
            <a:avLst/>
          </a:prstGeom>
          <a:solidFill>
            <a:srgbClr val="3E6BB5"/>
          </a:solidFill>
          <a:ln/>
        </p:spPr>
      </p:sp>
      <p:sp>
        <p:nvSpPr>
          <p:cNvPr id="44" name="Text 41"/>
          <p:cNvSpPr/>
          <p:nvPr/>
        </p:nvSpPr>
        <p:spPr>
          <a:xfrm>
            <a:off x="12975336" y="457200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iro" pitchFamily="34" charset="0"/>
                <a:ea typeface="Cairo" pitchFamily="34" charset="-122"/>
                <a:cs typeface="Cairo" pitchFamily="34" charset="-120"/>
              </a:rPr>
              <a:t>٤</a:t>
            </a:r>
            <a:endParaRPr lang="en-US" sz="2600" dirty="0"/>
          </a:p>
        </p:txBody>
      </p:sp>
      <p:sp>
        <p:nvSpPr>
          <p:cNvPr id="45" name="Text 42"/>
          <p:cNvSpPr/>
          <p:nvPr/>
        </p:nvSpPr>
        <p:spPr>
          <a:xfrm>
            <a:off x="7845552" y="4517136"/>
            <a:ext cx="4901184" cy="676656"/>
          </a:xfrm>
          <a:prstGeom prst="rect">
            <a:avLst/>
          </a:prstGeom>
          <a:noFill/>
          <a:ln/>
        </p:spPr>
        <p:txBody>
          <a:bodyPr wrap="square" lIns="0" tIns="0" rIns="0" bIns="0" rtlCol="0" anchor="ctr"/>
          <a:lstStyle/>
          <a:p>
            <a:pPr rtl="1" algn="r" indent="0" marL="0">
              <a:buNone/>
            </a:pPr>
            <a:r>
              <a:rPr lang="en-US" sz="3000" b="1" dirty="0">
                <a:solidFill>
                  <a:srgbClr val="1A2235"/>
                </a:solidFill>
                <a:latin typeface="Cairo" pitchFamily="34" charset="0"/>
                <a:ea typeface="Cairo" pitchFamily="34" charset="-122"/>
                <a:cs typeface="Cairo" pitchFamily="34" charset="-120"/>
              </a:rPr>
              <a:t>معمارية النظام</a:t>
            </a:r>
            <a:endParaRPr lang="en-US" sz="3000" dirty="0"/>
          </a:p>
        </p:txBody>
      </p:sp>
      <p:sp>
        <p:nvSpPr>
          <p:cNvPr id="46" name="Shape 43"/>
          <p:cNvSpPr/>
          <p:nvPr/>
        </p:nvSpPr>
        <p:spPr>
          <a:xfrm>
            <a:off x="8316468" y="5440680"/>
            <a:ext cx="4754880" cy="640080"/>
          </a:xfrm>
          <a:prstGeom prst="roundRect">
            <a:avLst>
              <a:gd name="adj" fmla="val 10000"/>
            </a:avLst>
          </a:prstGeom>
          <a:solidFill>
            <a:srgbClr val="DCE6F5"/>
          </a:solidFill>
          <a:ln/>
        </p:spPr>
      </p:sp>
      <p:sp>
        <p:nvSpPr>
          <p:cNvPr id="47" name="Text 44"/>
          <p:cNvSpPr/>
          <p:nvPr/>
        </p:nvSpPr>
        <p:spPr>
          <a:xfrm>
            <a:off x="8316468" y="5440680"/>
            <a:ext cx="4754880" cy="640080"/>
          </a:xfrm>
          <a:prstGeom prst="rect">
            <a:avLst/>
          </a:prstGeom>
          <a:noFill/>
          <a:ln/>
        </p:spPr>
        <p:txBody>
          <a:bodyPr wrap="square" lIns="0" tIns="0" rIns="0" bIns="0" rtlCol="0" anchor="ctr"/>
          <a:lstStyle/>
          <a:p>
            <a:pPr rtl="1" algn="ctr" indent="0" marL="0">
              <a:buNone/>
            </a:pPr>
            <a:r>
              <a:rPr lang="en-US" sz="1700" b="1" dirty="0">
                <a:solidFill>
                  <a:srgbClr val="1A2235"/>
                </a:solidFill>
                <a:latin typeface="Cairo" pitchFamily="34" charset="0"/>
                <a:ea typeface="Cairo" pitchFamily="34" charset="-122"/>
                <a:cs typeface="Cairo" pitchFamily="34" charset="-120"/>
              </a:rPr>
              <a:t>المستخدم (متصفح / هاتف)</a:t>
            </a:r>
            <a:endParaRPr lang="en-US" sz="1700" dirty="0"/>
          </a:p>
        </p:txBody>
      </p:sp>
      <p:sp>
        <p:nvSpPr>
          <p:cNvPr id="48" name="Shape 45"/>
          <p:cNvSpPr/>
          <p:nvPr/>
        </p:nvSpPr>
        <p:spPr>
          <a:xfrm>
            <a:off x="10693908" y="6080760"/>
            <a:ext cx="0" cy="301752"/>
          </a:xfrm>
          <a:prstGeom prst="line">
            <a:avLst/>
          </a:prstGeom>
          <a:noFill/>
          <a:ln w="31750">
            <a:solidFill>
              <a:srgbClr val="6B7B8D"/>
            </a:solidFill>
            <a:prstDash val="solid"/>
            <a:tailEnd type="triangle"/>
          </a:ln>
        </p:spPr>
      </p:sp>
      <p:sp>
        <p:nvSpPr>
          <p:cNvPr id="49" name="Shape 46"/>
          <p:cNvSpPr/>
          <p:nvPr/>
        </p:nvSpPr>
        <p:spPr>
          <a:xfrm>
            <a:off x="8316468" y="6400800"/>
            <a:ext cx="4754880" cy="914400"/>
          </a:xfrm>
          <a:prstGeom prst="roundRect">
            <a:avLst>
              <a:gd name="adj" fmla="val 7000"/>
            </a:avLst>
          </a:prstGeom>
          <a:solidFill>
            <a:srgbClr val="3E6BB5"/>
          </a:solidFill>
          <a:ln/>
        </p:spPr>
      </p:sp>
      <p:sp>
        <p:nvSpPr>
          <p:cNvPr id="50" name="Text 47"/>
          <p:cNvSpPr/>
          <p:nvPr/>
        </p:nvSpPr>
        <p:spPr>
          <a:xfrm>
            <a:off x="8316468" y="6400800"/>
            <a:ext cx="4754880" cy="914400"/>
          </a:xfrm>
          <a:prstGeom prst="rect">
            <a:avLst/>
          </a:prstGeom>
          <a:noFill/>
          <a:ln/>
        </p:spPr>
        <p:txBody>
          <a:bodyPr wrap="square" lIns="0" tIns="0" rIns="0" bIns="0" rtlCol="0" anchor="ctr"/>
          <a:lstStyle/>
          <a:p>
            <a:pPr rtl="1" algn="ctr" indent="0" marL="0">
              <a:buNone/>
            </a:pPr>
            <a:r>
              <a:rPr lang="en-US" sz="1700" b="1" dirty="0">
                <a:solidFill>
                  <a:srgbClr val="FFFFFF"/>
                </a:solidFill>
                <a:latin typeface="Cairo" pitchFamily="34" charset="0"/>
                <a:ea typeface="Cairo" pitchFamily="34" charset="-122"/>
                <a:cs typeface="Cairo" pitchFamily="34" charset="-120"/>
              </a:rPr>
              <a:t>الواجهة الأمامية — shama.ly</a:t>
            </a:r>
            <a:endParaRPr lang="en-US" sz="1700" dirty="0"/>
          </a:p>
          <a:p>
            <a:pPr rtl="1" algn="ctr" indent="0" marL="0">
              <a:buNone/>
            </a:pPr>
            <a:r>
              <a:rPr lang="en-US" sz="1400" dirty="0">
                <a:solidFill>
                  <a:srgbClr val="FFFFFF"/>
                </a:solidFill>
                <a:latin typeface="Cairo" pitchFamily="34" charset="0"/>
                <a:ea typeface="Cairo" pitchFamily="34" charset="-122"/>
                <a:cs typeface="Cairo" pitchFamily="34" charset="-120"/>
              </a:rPr>
              <a:t>React 18 · TypeScript · Vite · Tailwind</a:t>
            </a:r>
            <a:endParaRPr lang="en-US" sz="1700" dirty="0"/>
          </a:p>
        </p:txBody>
      </p:sp>
      <p:sp>
        <p:nvSpPr>
          <p:cNvPr id="51" name="Shape 48"/>
          <p:cNvSpPr/>
          <p:nvPr/>
        </p:nvSpPr>
        <p:spPr>
          <a:xfrm>
            <a:off x="10693908" y="7333488"/>
            <a:ext cx="0" cy="301752"/>
          </a:xfrm>
          <a:prstGeom prst="line">
            <a:avLst/>
          </a:prstGeom>
          <a:noFill/>
          <a:ln w="31750">
            <a:solidFill>
              <a:srgbClr val="6B7B8D"/>
            </a:solidFill>
            <a:prstDash val="solid"/>
            <a:tailEnd type="triangle"/>
          </a:ln>
        </p:spPr>
      </p:sp>
      <p:sp>
        <p:nvSpPr>
          <p:cNvPr id="52" name="Shape 49"/>
          <p:cNvSpPr/>
          <p:nvPr/>
        </p:nvSpPr>
        <p:spPr>
          <a:xfrm>
            <a:off x="8316468" y="7653528"/>
            <a:ext cx="4754880" cy="1143000"/>
          </a:xfrm>
          <a:prstGeom prst="roundRect">
            <a:avLst>
              <a:gd name="adj" fmla="val 5600"/>
            </a:avLst>
          </a:prstGeom>
          <a:solidFill>
            <a:srgbClr val="1A2235"/>
          </a:solidFill>
          <a:ln/>
        </p:spPr>
      </p:sp>
      <p:sp>
        <p:nvSpPr>
          <p:cNvPr id="53" name="Text 50"/>
          <p:cNvSpPr/>
          <p:nvPr/>
        </p:nvSpPr>
        <p:spPr>
          <a:xfrm>
            <a:off x="8316468" y="7653528"/>
            <a:ext cx="4754880" cy="1143000"/>
          </a:xfrm>
          <a:prstGeom prst="rect">
            <a:avLst/>
          </a:prstGeom>
          <a:noFill/>
          <a:ln/>
        </p:spPr>
        <p:txBody>
          <a:bodyPr wrap="square" lIns="0" tIns="0" rIns="0" bIns="0" rtlCol="0" anchor="ctr"/>
          <a:lstStyle/>
          <a:p>
            <a:pPr rtl="1" algn="ctr" indent="0" marL="0">
              <a:buNone/>
            </a:pPr>
            <a:r>
              <a:rPr lang="en-US" sz="1700" b="1" dirty="0">
                <a:solidFill>
                  <a:srgbClr val="FFFFFF"/>
                </a:solidFill>
                <a:latin typeface="Cairo" pitchFamily="34" charset="0"/>
                <a:ea typeface="Cairo" pitchFamily="34" charset="-122"/>
                <a:cs typeface="Cairo" pitchFamily="34" charset="-120"/>
              </a:rPr>
              <a:t>Supabase — Backend as a Service</a:t>
            </a:r>
            <a:endParaRPr lang="en-US" sz="1700" dirty="0"/>
          </a:p>
          <a:p>
            <a:pPr rtl="1" algn="ctr" indent="0" marL="0">
              <a:buNone/>
            </a:pPr>
            <a:r>
              <a:rPr lang="en-US" sz="1400" dirty="0">
                <a:solidFill>
                  <a:srgbClr val="FFFFFF"/>
                </a:solidFill>
                <a:latin typeface="Cairo" pitchFamily="34" charset="0"/>
                <a:ea typeface="Cairo" pitchFamily="34" charset="-122"/>
                <a:cs typeface="Cairo" pitchFamily="34" charset="-120"/>
              </a:rPr>
              <a:t>PostgreSQL · Auth · Storage · 7 Edge Functions</a:t>
            </a:r>
            <a:endParaRPr lang="en-US" sz="1700" dirty="0"/>
          </a:p>
        </p:txBody>
      </p:sp>
      <p:sp>
        <p:nvSpPr>
          <p:cNvPr id="54" name="Shape 51"/>
          <p:cNvSpPr/>
          <p:nvPr/>
        </p:nvSpPr>
        <p:spPr>
          <a:xfrm flipH="1">
            <a:off x="9276588" y="8814816"/>
            <a:ext cx="1417320" cy="292608"/>
          </a:xfrm>
          <a:prstGeom prst="line">
            <a:avLst/>
          </a:prstGeom>
          <a:noFill/>
          <a:ln w="31750">
            <a:solidFill>
              <a:srgbClr val="6B7B8D"/>
            </a:solidFill>
            <a:prstDash val="solid"/>
            <a:tailEnd type="triangle"/>
          </a:ln>
        </p:spPr>
      </p:sp>
      <p:sp>
        <p:nvSpPr>
          <p:cNvPr id="55" name="Shape 52"/>
          <p:cNvSpPr/>
          <p:nvPr/>
        </p:nvSpPr>
        <p:spPr>
          <a:xfrm>
            <a:off x="10693908" y="8814816"/>
            <a:ext cx="1417320" cy="292608"/>
          </a:xfrm>
          <a:prstGeom prst="line">
            <a:avLst/>
          </a:prstGeom>
          <a:noFill/>
          <a:ln w="31750">
            <a:solidFill>
              <a:srgbClr val="6B7B8D"/>
            </a:solidFill>
            <a:prstDash val="solid"/>
            <a:tailEnd type="triangle"/>
          </a:ln>
        </p:spPr>
      </p:sp>
      <p:sp>
        <p:nvSpPr>
          <p:cNvPr id="56" name="Shape 53"/>
          <p:cNvSpPr/>
          <p:nvPr/>
        </p:nvSpPr>
        <p:spPr>
          <a:xfrm>
            <a:off x="7845552" y="9125712"/>
            <a:ext cx="2971800" cy="1097280"/>
          </a:xfrm>
          <a:prstGeom prst="roundRect">
            <a:avLst>
              <a:gd name="adj" fmla="val 5833"/>
            </a:avLst>
          </a:prstGeom>
          <a:solidFill>
            <a:srgbClr val="5B8DD9"/>
          </a:solidFill>
          <a:ln/>
        </p:spPr>
      </p:sp>
      <p:sp>
        <p:nvSpPr>
          <p:cNvPr id="57" name="Text 54"/>
          <p:cNvSpPr/>
          <p:nvPr/>
        </p:nvSpPr>
        <p:spPr>
          <a:xfrm>
            <a:off x="7845552" y="9125712"/>
            <a:ext cx="2971800" cy="1097280"/>
          </a:xfrm>
          <a:prstGeom prst="rect">
            <a:avLst/>
          </a:prstGeom>
          <a:noFill/>
          <a:ln/>
        </p:spPr>
        <p:txBody>
          <a:bodyPr wrap="square" lIns="0" tIns="0" rIns="0" bIns="0" rtlCol="0" anchor="ctr"/>
          <a:lstStyle/>
          <a:p>
            <a:pPr rtl="1" algn="ctr" indent="0" marL="0">
              <a:buNone/>
            </a:pPr>
            <a:r>
              <a:rPr lang="en-US" sz="1600" b="1" dirty="0">
                <a:solidFill>
                  <a:srgbClr val="FFFFFF"/>
                </a:solidFill>
                <a:latin typeface="Cairo" pitchFamily="34" charset="0"/>
                <a:ea typeface="Cairo" pitchFamily="34" charset="-122"/>
                <a:cs typeface="Cairo" pitchFamily="34" charset="-120"/>
              </a:rPr>
              <a:t>OpenRouter AI</a:t>
            </a:r>
            <a:endParaRPr lang="en-US" sz="1600" dirty="0"/>
          </a:p>
          <a:p>
            <a:pPr rtl="1" algn="ctr" indent="0" marL="0">
              <a:buNone/>
            </a:pPr>
            <a:r>
              <a:rPr lang="en-US" sz="1250" dirty="0">
                <a:solidFill>
                  <a:srgbClr val="FFFFFF"/>
                </a:solidFill>
                <a:latin typeface="Cairo" pitchFamily="34" charset="0"/>
                <a:ea typeface="Cairo" pitchFamily="34" charset="-122"/>
                <a:cs typeface="Cairo" pitchFamily="34" charset="-120"/>
              </a:rPr>
              <a:t>GPT-5.2 · Claude 4.6 · Gemini</a:t>
            </a:r>
            <a:endParaRPr lang="en-US" sz="1600" dirty="0"/>
          </a:p>
        </p:txBody>
      </p:sp>
      <p:sp>
        <p:nvSpPr>
          <p:cNvPr id="58" name="Shape 55"/>
          <p:cNvSpPr/>
          <p:nvPr/>
        </p:nvSpPr>
        <p:spPr>
          <a:xfrm>
            <a:off x="11091672" y="9125712"/>
            <a:ext cx="2450592" cy="1097280"/>
          </a:xfrm>
          <a:prstGeom prst="roundRect">
            <a:avLst>
              <a:gd name="adj" fmla="val 5833"/>
            </a:avLst>
          </a:prstGeom>
          <a:solidFill>
            <a:srgbClr val="5B8DD9"/>
          </a:solidFill>
          <a:ln/>
        </p:spPr>
      </p:sp>
      <p:sp>
        <p:nvSpPr>
          <p:cNvPr id="59" name="Text 56"/>
          <p:cNvSpPr/>
          <p:nvPr/>
        </p:nvSpPr>
        <p:spPr>
          <a:xfrm>
            <a:off x="11091672" y="9125712"/>
            <a:ext cx="2450592" cy="1097280"/>
          </a:xfrm>
          <a:prstGeom prst="rect">
            <a:avLst/>
          </a:prstGeom>
          <a:noFill/>
          <a:ln/>
        </p:spPr>
        <p:txBody>
          <a:bodyPr wrap="square" lIns="0" tIns="0" rIns="0" bIns="0" rtlCol="0" anchor="ctr"/>
          <a:lstStyle/>
          <a:p>
            <a:pPr rtl="1" algn="ctr" indent="0" marL="0">
              <a:buNone/>
            </a:pPr>
            <a:r>
              <a:rPr lang="en-US" sz="1600" b="1" dirty="0">
                <a:solidFill>
                  <a:srgbClr val="FFFFFF"/>
                </a:solidFill>
                <a:latin typeface="Cairo" pitchFamily="34" charset="0"/>
                <a:ea typeface="Cairo" pitchFamily="34" charset="-122"/>
                <a:cs typeface="Cairo" pitchFamily="34" charset="-120"/>
              </a:rPr>
              <a:t>Vanex API</a:t>
            </a:r>
            <a:endParaRPr lang="en-US" sz="1600" dirty="0"/>
          </a:p>
          <a:p>
            <a:pPr rtl="1" algn="ctr" indent="0" marL="0">
              <a:buNone/>
            </a:pPr>
            <a:r>
              <a:rPr lang="en-US" sz="1250" dirty="0">
                <a:solidFill>
                  <a:srgbClr val="FFFFFF"/>
                </a:solidFill>
                <a:latin typeface="Cairo" pitchFamily="34" charset="0"/>
                <a:ea typeface="Cairo" pitchFamily="34" charset="-122"/>
                <a:cs typeface="Cairo" pitchFamily="34" charset="-120"/>
              </a:rPr>
              <a:t>إنشاء وتتبع الشحنات</a:t>
            </a:r>
            <a:endParaRPr lang="en-US" sz="1600" dirty="0"/>
          </a:p>
        </p:txBody>
      </p:sp>
      <p:sp>
        <p:nvSpPr>
          <p:cNvPr id="60" name="Shape 57"/>
          <p:cNvSpPr/>
          <p:nvPr/>
        </p:nvSpPr>
        <p:spPr>
          <a:xfrm flipV="1">
            <a:off x="10972800" y="8833104"/>
            <a:ext cx="0" cy="2066544"/>
          </a:xfrm>
          <a:prstGeom prst="line">
            <a:avLst/>
          </a:prstGeom>
          <a:noFill/>
          <a:ln w="31750">
            <a:solidFill>
              <a:srgbClr val="6B7B8D"/>
            </a:solidFill>
            <a:prstDash val="dash"/>
            <a:tailEnd type="triangle"/>
          </a:ln>
        </p:spPr>
      </p:sp>
      <p:sp>
        <p:nvSpPr>
          <p:cNvPr id="61" name="Shape 58"/>
          <p:cNvSpPr/>
          <p:nvPr/>
        </p:nvSpPr>
        <p:spPr>
          <a:xfrm>
            <a:off x="8316468" y="10927080"/>
            <a:ext cx="4754880" cy="868680"/>
          </a:xfrm>
          <a:prstGeom prst="roundRect">
            <a:avLst>
              <a:gd name="adj" fmla="val 7368"/>
            </a:avLst>
          </a:prstGeom>
          <a:solidFill>
            <a:srgbClr val="F0C03E"/>
          </a:solidFill>
          <a:ln/>
        </p:spPr>
      </p:sp>
      <p:sp>
        <p:nvSpPr>
          <p:cNvPr id="62" name="Text 59"/>
          <p:cNvSpPr/>
          <p:nvPr/>
        </p:nvSpPr>
        <p:spPr>
          <a:xfrm>
            <a:off x="8316468" y="10927080"/>
            <a:ext cx="4754880" cy="868680"/>
          </a:xfrm>
          <a:prstGeom prst="rect">
            <a:avLst/>
          </a:prstGeom>
          <a:noFill/>
          <a:ln/>
        </p:spPr>
        <p:txBody>
          <a:bodyPr wrap="square" lIns="0" tIns="0" rIns="0" bIns="0" rtlCol="0" anchor="ctr"/>
          <a:lstStyle/>
          <a:p>
            <a:pPr rtl="1" algn="ctr" indent="0" marL="0">
              <a:buNone/>
            </a:pPr>
            <a:r>
              <a:rPr lang="en-US" sz="1500" b="1" dirty="0">
                <a:solidFill>
                  <a:srgbClr val="1A2235"/>
                </a:solidFill>
                <a:latin typeface="Cairo" pitchFamily="34" charset="0"/>
                <a:ea typeface="Cairo" pitchFamily="34" charset="-122"/>
                <a:cs typeface="Cairo" pitchFamily="34" charset="-120"/>
              </a:rPr>
              <a:t>بوت تيليجرام (Telegraf) — إدارة المتجر من الهاتف</a:t>
            </a:r>
            <a:endParaRPr lang="en-US" sz="1500" dirty="0"/>
          </a:p>
        </p:txBody>
      </p:sp>
      <p:sp>
        <p:nvSpPr>
          <p:cNvPr id="63" name="Text 60"/>
          <p:cNvSpPr/>
          <p:nvPr/>
        </p:nvSpPr>
        <p:spPr>
          <a:xfrm>
            <a:off x="7845552" y="12024360"/>
            <a:ext cx="5696712" cy="457200"/>
          </a:xfrm>
          <a:prstGeom prst="rect">
            <a:avLst/>
          </a:prstGeom>
          <a:noFill/>
          <a:ln/>
        </p:spPr>
        <p:txBody>
          <a:bodyPr wrap="square" lIns="0" tIns="0" rIns="0" bIns="0" rtlCol="0" anchor="ctr"/>
          <a:lstStyle/>
          <a:p>
            <a:pPr rtl="1" algn="r" indent="0" marL="0">
              <a:buNone/>
            </a:pPr>
            <a:r>
              <a:rPr lang="en-US" sz="2200" b="1" dirty="0">
                <a:solidFill>
                  <a:srgbClr val="3E6BB5"/>
                </a:solidFill>
                <a:latin typeface="Cairo" pitchFamily="34" charset="0"/>
                <a:ea typeface="Cairo" pitchFamily="34" charset="-122"/>
                <a:cs typeface="Cairo" pitchFamily="34" charset="-120"/>
              </a:rPr>
              <a:t>التقنيات المستخدمة</a:t>
            </a:r>
            <a:endParaRPr lang="en-US" sz="2200" dirty="0"/>
          </a:p>
        </p:txBody>
      </p:sp>
      <p:sp>
        <p:nvSpPr>
          <p:cNvPr id="64" name="Shape 61"/>
          <p:cNvSpPr/>
          <p:nvPr/>
        </p:nvSpPr>
        <p:spPr>
          <a:xfrm>
            <a:off x="7845552" y="12600432"/>
            <a:ext cx="1810512" cy="475488"/>
          </a:xfrm>
          <a:prstGeom prst="roundRect">
            <a:avLst>
              <a:gd name="adj" fmla="val 23077"/>
            </a:avLst>
          </a:prstGeom>
          <a:solidFill>
            <a:srgbClr val="EEF3FA"/>
          </a:solidFill>
          <a:ln w="12700">
            <a:solidFill>
              <a:srgbClr val="5B8DD9"/>
            </a:solidFill>
            <a:prstDash val="solid"/>
          </a:ln>
        </p:spPr>
      </p:sp>
      <p:sp>
        <p:nvSpPr>
          <p:cNvPr id="65" name="Text 62"/>
          <p:cNvSpPr/>
          <p:nvPr/>
        </p:nvSpPr>
        <p:spPr>
          <a:xfrm>
            <a:off x="7845552" y="12600432"/>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React 18</a:t>
            </a:r>
            <a:endParaRPr lang="en-US" sz="1350" dirty="0"/>
          </a:p>
        </p:txBody>
      </p:sp>
      <p:sp>
        <p:nvSpPr>
          <p:cNvPr id="66" name="Shape 63"/>
          <p:cNvSpPr/>
          <p:nvPr/>
        </p:nvSpPr>
        <p:spPr>
          <a:xfrm>
            <a:off x="9784080" y="12600432"/>
            <a:ext cx="1810512" cy="475488"/>
          </a:xfrm>
          <a:prstGeom prst="roundRect">
            <a:avLst>
              <a:gd name="adj" fmla="val 23077"/>
            </a:avLst>
          </a:prstGeom>
          <a:solidFill>
            <a:srgbClr val="EEF3FA"/>
          </a:solidFill>
          <a:ln w="12700">
            <a:solidFill>
              <a:srgbClr val="5B8DD9"/>
            </a:solidFill>
            <a:prstDash val="solid"/>
          </a:ln>
        </p:spPr>
      </p:sp>
      <p:sp>
        <p:nvSpPr>
          <p:cNvPr id="67" name="Text 64"/>
          <p:cNvSpPr/>
          <p:nvPr/>
        </p:nvSpPr>
        <p:spPr>
          <a:xfrm>
            <a:off x="9784080" y="12600432"/>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TypeScript</a:t>
            </a:r>
            <a:endParaRPr lang="en-US" sz="1350" dirty="0"/>
          </a:p>
        </p:txBody>
      </p:sp>
      <p:sp>
        <p:nvSpPr>
          <p:cNvPr id="68" name="Shape 65"/>
          <p:cNvSpPr/>
          <p:nvPr/>
        </p:nvSpPr>
        <p:spPr>
          <a:xfrm>
            <a:off x="11722608" y="12600432"/>
            <a:ext cx="1810512" cy="475488"/>
          </a:xfrm>
          <a:prstGeom prst="roundRect">
            <a:avLst>
              <a:gd name="adj" fmla="val 23077"/>
            </a:avLst>
          </a:prstGeom>
          <a:solidFill>
            <a:srgbClr val="EEF3FA"/>
          </a:solidFill>
          <a:ln w="12700">
            <a:solidFill>
              <a:srgbClr val="5B8DD9"/>
            </a:solidFill>
            <a:prstDash val="solid"/>
          </a:ln>
        </p:spPr>
      </p:sp>
      <p:sp>
        <p:nvSpPr>
          <p:cNvPr id="69" name="Text 66"/>
          <p:cNvSpPr/>
          <p:nvPr/>
        </p:nvSpPr>
        <p:spPr>
          <a:xfrm>
            <a:off x="11722608" y="12600432"/>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Vite</a:t>
            </a:r>
            <a:endParaRPr lang="en-US" sz="1350" dirty="0"/>
          </a:p>
        </p:txBody>
      </p:sp>
      <p:sp>
        <p:nvSpPr>
          <p:cNvPr id="70" name="Shape 67"/>
          <p:cNvSpPr/>
          <p:nvPr/>
        </p:nvSpPr>
        <p:spPr>
          <a:xfrm>
            <a:off x="7845552" y="13203936"/>
            <a:ext cx="1810512" cy="475488"/>
          </a:xfrm>
          <a:prstGeom prst="roundRect">
            <a:avLst>
              <a:gd name="adj" fmla="val 23077"/>
            </a:avLst>
          </a:prstGeom>
          <a:solidFill>
            <a:srgbClr val="EEF3FA"/>
          </a:solidFill>
          <a:ln w="12700">
            <a:solidFill>
              <a:srgbClr val="5B8DD9"/>
            </a:solidFill>
            <a:prstDash val="solid"/>
          </a:ln>
        </p:spPr>
      </p:sp>
      <p:sp>
        <p:nvSpPr>
          <p:cNvPr id="71" name="Text 68"/>
          <p:cNvSpPr/>
          <p:nvPr/>
        </p:nvSpPr>
        <p:spPr>
          <a:xfrm>
            <a:off x="7845552" y="13203936"/>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Tailwind CSS</a:t>
            </a:r>
            <a:endParaRPr lang="en-US" sz="1350" dirty="0"/>
          </a:p>
        </p:txBody>
      </p:sp>
      <p:sp>
        <p:nvSpPr>
          <p:cNvPr id="72" name="Shape 69"/>
          <p:cNvSpPr/>
          <p:nvPr/>
        </p:nvSpPr>
        <p:spPr>
          <a:xfrm>
            <a:off x="9784080" y="13203936"/>
            <a:ext cx="1810512" cy="475488"/>
          </a:xfrm>
          <a:prstGeom prst="roundRect">
            <a:avLst>
              <a:gd name="adj" fmla="val 23077"/>
            </a:avLst>
          </a:prstGeom>
          <a:solidFill>
            <a:srgbClr val="EEF3FA"/>
          </a:solidFill>
          <a:ln w="12700">
            <a:solidFill>
              <a:srgbClr val="5B8DD9"/>
            </a:solidFill>
            <a:prstDash val="solid"/>
          </a:ln>
        </p:spPr>
      </p:sp>
      <p:sp>
        <p:nvSpPr>
          <p:cNvPr id="73" name="Text 70"/>
          <p:cNvSpPr/>
          <p:nvPr/>
        </p:nvSpPr>
        <p:spPr>
          <a:xfrm>
            <a:off x="9784080" y="13203936"/>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shadcn/ui</a:t>
            </a:r>
            <a:endParaRPr lang="en-US" sz="1350" dirty="0"/>
          </a:p>
        </p:txBody>
      </p:sp>
      <p:sp>
        <p:nvSpPr>
          <p:cNvPr id="74" name="Shape 71"/>
          <p:cNvSpPr/>
          <p:nvPr/>
        </p:nvSpPr>
        <p:spPr>
          <a:xfrm>
            <a:off x="11722608" y="13203936"/>
            <a:ext cx="1810512" cy="475488"/>
          </a:xfrm>
          <a:prstGeom prst="roundRect">
            <a:avLst>
              <a:gd name="adj" fmla="val 23077"/>
            </a:avLst>
          </a:prstGeom>
          <a:solidFill>
            <a:srgbClr val="EEF3FA"/>
          </a:solidFill>
          <a:ln w="12700">
            <a:solidFill>
              <a:srgbClr val="5B8DD9"/>
            </a:solidFill>
            <a:prstDash val="solid"/>
          </a:ln>
        </p:spPr>
      </p:sp>
      <p:sp>
        <p:nvSpPr>
          <p:cNvPr id="75" name="Text 72"/>
          <p:cNvSpPr/>
          <p:nvPr/>
        </p:nvSpPr>
        <p:spPr>
          <a:xfrm>
            <a:off x="11722608" y="13203936"/>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Supabase</a:t>
            </a:r>
            <a:endParaRPr lang="en-US" sz="1350" dirty="0"/>
          </a:p>
        </p:txBody>
      </p:sp>
      <p:sp>
        <p:nvSpPr>
          <p:cNvPr id="76" name="Shape 73"/>
          <p:cNvSpPr/>
          <p:nvPr/>
        </p:nvSpPr>
        <p:spPr>
          <a:xfrm>
            <a:off x="7845552" y="13807440"/>
            <a:ext cx="1810512" cy="475488"/>
          </a:xfrm>
          <a:prstGeom prst="roundRect">
            <a:avLst>
              <a:gd name="adj" fmla="val 23077"/>
            </a:avLst>
          </a:prstGeom>
          <a:solidFill>
            <a:srgbClr val="EEF3FA"/>
          </a:solidFill>
          <a:ln w="12700">
            <a:solidFill>
              <a:srgbClr val="5B8DD9"/>
            </a:solidFill>
            <a:prstDash val="solid"/>
          </a:ln>
        </p:spPr>
      </p:sp>
      <p:sp>
        <p:nvSpPr>
          <p:cNvPr id="77" name="Text 74"/>
          <p:cNvSpPr/>
          <p:nvPr/>
        </p:nvSpPr>
        <p:spPr>
          <a:xfrm>
            <a:off x="7845552" y="13807440"/>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PostgreSQL</a:t>
            </a:r>
            <a:endParaRPr lang="en-US" sz="1350" dirty="0"/>
          </a:p>
        </p:txBody>
      </p:sp>
      <p:sp>
        <p:nvSpPr>
          <p:cNvPr id="78" name="Shape 75"/>
          <p:cNvSpPr/>
          <p:nvPr/>
        </p:nvSpPr>
        <p:spPr>
          <a:xfrm>
            <a:off x="9784080" y="13807440"/>
            <a:ext cx="1810512" cy="475488"/>
          </a:xfrm>
          <a:prstGeom prst="roundRect">
            <a:avLst>
              <a:gd name="adj" fmla="val 23077"/>
            </a:avLst>
          </a:prstGeom>
          <a:solidFill>
            <a:srgbClr val="EEF3FA"/>
          </a:solidFill>
          <a:ln w="12700">
            <a:solidFill>
              <a:srgbClr val="5B8DD9"/>
            </a:solidFill>
            <a:prstDash val="solid"/>
          </a:ln>
        </p:spPr>
      </p:sp>
      <p:sp>
        <p:nvSpPr>
          <p:cNvPr id="79" name="Text 76"/>
          <p:cNvSpPr/>
          <p:nvPr/>
        </p:nvSpPr>
        <p:spPr>
          <a:xfrm>
            <a:off x="9784080" y="13807440"/>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Edge Functions</a:t>
            </a:r>
            <a:endParaRPr lang="en-US" sz="1350" dirty="0"/>
          </a:p>
        </p:txBody>
      </p:sp>
      <p:sp>
        <p:nvSpPr>
          <p:cNvPr id="80" name="Shape 77"/>
          <p:cNvSpPr/>
          <p:nvPr/>
        </p:nvSpPr>
        <p:spPr>
          <a:xfrm>
            <a:off x="11722608" y="13807440"/>
            <a:ext cx="1810512" cy="475488"/>
          </a:xfrm>
          <a:prstGeom prst="roundRect">
            <a:avLst>
              <a:gd name="adj" fmla="val 23077"/>
            </a:avLst>
          </a:prstGeom>
          <a:solidFill>
            <a:srgbClr val="EEF3FA"/>
          </a:solidFill>
          <a:ln w="12700">
            <a:solidFill>
              <a:srgbClr val="5B8DD9"/>
            </a:solidFill>
            <a:prstDash val="solid"/>
          </a:ln>
        </p:spPr>
      </p:sp>
      <p:sp>
        <p:nvSpPr>
          <p:cNvPr id="81" name="Text 78"/>
          <p:cNvSpPr/>
          <p:nvPr/>
        </p:nvSpPr>
        <p:spPr>
          <a:xfrm>
            <a:off x="11722608" y="13807440"/>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OpenRouter AI</a:t>
            </a:r>
            <a:endParaRPr lang="en-US" sz="1350" dirty="0"/>
          </a:p>
        </p:txBody>
      </p:sp>
      <p:sp>
        <p:nvSpPr>
          <p:cNvPr id="82" name="Shape 79"/>
          <p:cNvSpPr/>
          <p:nvPr/>
        </p:nvSpPr>
        <p:spPr>
          <a:xfrm>
            <a:off x="7845552" y="14410944"/>
            <a:ext cx="1810512" cy="475488"/>
          </a:xfrm>
          <a:prstGeom prst="roundRect">
            <a:avLst>
              <a:gd name="adj" fmla="val 23077"/>
            </a:avLst>
          </a:prstGeom>
          <a:solidFill>
            <a:srgbClr val="EEF3FA"/>
          </a:solidFill>
          <a:ln w="12700">
            <a:solidFill>
              <a:srgbClr val="5B8DD9"/>
            </a:solidFill>
            <a:prstDash val="solid"/>
          </a:ln>
        </p:spPr>
      </p:sp>
      <p:sp>
        <p:nvSpPr>
          <p:cNvPr id="83" name="Text 80"/>
          <p:cNvSpPr/>
          <p:nvPr/>
        </p:nvSpPr>
        <p:spPr>
          <a:xfrm>
            <a:off x="7845552" y="14410944"/>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GPT-5.2</a:t>
            </a:r>
            <a:endParaRPr lang="en-US" sz="1350" dirty="0"/>
          </a:p>
        </p:txBody>
      </p:sp>
      <p:sp>
        <p:nvSpPr>
          <p:cNvPr id="84" name="Shape 81"/>
          <p:cNvSpPr/>
          <p:nvPr/>
        </p:nvSpPr>
        <p:spPr>
          <a:xfrm>
            <a:off x="9784080" y="14410944"/>
            <a:ext cx="1810512" cy="475488"/>
          </a:xfrm>
          <a:prstGeom prst="roundRect">
            <a:avLst>
              <a:gd name="adj" fmla="val 23077"/>
            </a:avLst>
          </a:prstGeom>
          <a:solidFill>
            <a:srgbClr val="EEF3FA"/>
          </a:solidFill>
          <a:ln w="12700">
            <a:solidFill>
              <a:srgbClr val="5B8DD9"/>
            </a:solidFill>
            <a:prstDash val="solid"/>
          </a:ln>
        </p:spPr>
      </p:sp>
      <p:sp>
        <p:nvSpPr>
          <p:cNvPr id="85" name="Text 82"/>
          <p:cNvSpPr/>
          <p:nvPr/>
        </p:nvSpPr>
        <p:spPr>
          <a:xfrm>
            <a:off x="9784080" y="14410944"/>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Claude Sonnet 4.6</a:t>
            </a:r>
            <a:endParaRPr lang="en-US" sz="1350" dirty="0"/>
          </a:p>
        </p:txBody>
      </p:sp>
      <p:sp>
        <p:nvSpPr>
          <p:cNvPr id="86" name="Shape 83"/>
          <p:cNvSpPr/>
          <p:nvPr/>
        </p:nvSpPr>
        <p:spPr>
          <a:xfrm>
            <a:off x="11722608" y="14410944"/>
            <a:ext cx="1810512" cy="475488"/>
          </a:xfrm>
          <a:prstGeom prst="roundRect">
            <a:avLst>
              <a:gd name="adj" fmla="val 23077"/>
            </a:avLst>
          </a:prstGeom>
          <a:solidFill>
            <a:srgbClr val="EEF3FA"/>
          </a:solidFill>
          <a:ln w="12700">
            <a:solidFill>
              <a:srgbClr val="5B8DD9"/>
            </a:solidFill>
            <a:prstDash val="solid"/>
          </a:ln>
        </p:spPr>
      </p:sp>
      <p:sp>
        <p:nvSpPr>
          <p:cNvPr id="87" name="Text 84"/>
          <p:cNvSpPr/>
          <p:nvPr/>
        </p:nvSpPr>
        <p:spPr>
          <a:xfrm>
            <a:off x="11722608" y="14410944"/>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Telegraf</a:t>
            </a:r>
            <a:endParaRPr lang="en-US" sz="1350" dirty="0"/>
          </a:p>
        </p:txBody>
      </p:sp>
      <p:sp>
        <p:nvSpPr>
          <p:cNvPr id="88" name="Shape 85"/>
          <p:cNvSpPr/>
          <p:nvPr/>
        </p:nvSpPr>
        <p:spPr>
          <a:xfrm>
            <a:off x="7845552" y="15014448"/>
            <a:ext cx="1810512" cy="475488"/>
          </a:xfrm>
          <a:prstGeom prst="roundRect">
            <a:avLst>
              <a:gd name="adj" fmla="val 23077"/>
            </a:avLst>
          </a:prstGeom>
          <a:solidFill>
            <a:srgbClr val="EEF3FA"/>
          </a:solidFill>
          <a:ln w="12700">
            <a:solidFill>
              <a:srgbClr val="5B8DD9"/>
            </a:solidFill>
            <a:prstDash val="solid"/>
          </a:ln>
        </p:spPr>
      </p:sp>
      <p:sp>
        <p:nvSpPr>
          <p:cNvPr id="89" name="Text 86"/>
          <p:cNvSpPr/>
          <p:nvPr/>
        </p:nvSpPr>
        <p:spPr>
          <a:xfrm>
            <a:off x="7845552" y="15014448"/>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Remotion</a:t>
            </a:r>
            <a:endParaRPr lang="en-US" sz="1350" dirty="0"/>
          </a:p>
        </p:txBody>
      </p:sp>
      <p:sp>
        <p:nvSpPr>
          <p:cNvPr id="90" name="Shape 87"/>
          <p:cNvSpPr/>
          <p:nvPr/>
        </p:nvSpPr>
        <p:spPr>
          <a:xfrm>
            <a:off x="9784080" y="15014448"/>
            <a:ext cx="1810512" cy="475488"/>
          </a:xfrm>
          <a:prstGeom prst="roundRect">
            <a:avLst>
              <a:gd name="adj" fmla="val 23077"/>
            </a:avLst>
          </a:prstGeom>
          <a:solidFill>
            <a:srgbClr val="EEF3FA"/>
          </a:solidFill>
          <a:ln w="12700">
            <a:solidFill>
              <a:srgbClr val="5B8DD9"/>
            </a:solidFill>
            <a:prstDash val="solid"/>
          </a:ln>
        </p:spPr>
      </p:sp>
      <p:sp>
        <p:nvSpPr>
          <p:cNvPr id="91" name="Text 88"/>
          <p:cNvSpPr/>
          <p:nvPr/>
        </p:nvSpPr>
        <p:spPr>
          <a:xfrm>
            <a:off x="9784080" y="15014448"/>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Playwright</a:t>
            </a:r>
            <a:endParaRPr lang="en-US" sz="1350" dirty="0"/>
          </a:p>
        </p:txBody>
      </p:sp>
      <p:sp>
        <p:nvSpPr>
          <p:cNvPr id="92" name="Shape 89"/>
          <p:cNvSpPr/>
          <p:nvPr/>
        </p:nvSpPr>
        <p:spPr>
          <a:xfrm>
            <a:off x="11722608" y="15014448"/>
            <a:ext cx="1810512" cy="475488"/>
          </a:xfrm>
          <a:prstGeom prst="roundRect">
            <a:avLst>
              <a:gd name="adj" fmla="val 23077"/>
            </a:avLst>
          </a:prstGeom>
          <a:solidFill>
            <a:srgbClr val="EEF3FA"/>
          </a:solidFill>
          <a:ln w="12700">
            <a:solidFill>
              <a:srgbClr val="5B8DD9"/>
            </a:solidFill>
            <a:prstDash val="solid"/>
          </a:ln>
        </p:spPr>
      </p:sp>
      <p:sp>
        <p:nvSpPr>
          <p:cNvPr id="93" name="Text 90"/>
          <p:cNvSpPr/>
          <p:nvPr/>
        </p:nvSpPr>
        <p:spPr>
          <a:xfrm>
            <a:off x="11722608" y="15014448"/>
            <a:ext cx="1810512" cy="475488"/>
          </a:xfrm>
          <a:prstGeom prst="rect">
            <a:avLst/>
          </a:prstGeom>
          <a:noFill/>
          <a:ln/>
        </p:spPr>
        <p:txBody>
          <a:bodyPr wrap="square" lIns="0" tIns="0" rIns="0" bIns="0" rtlCol="0" anchor="ctr"/>
          <a:lstStyle/>
          <a:p>
            <a:pPr algn="ctr" indent="0" marL="0">
              <a:buNone/>
            </a:pPr>
            <a:r>
              <a:rPr lang="en-US" sz="1350" b="1" dirty="0">
                <a:solidFill>
                  <a:srgbClr val="3E6BB5"/>
                </a:solidFill>
                <a:latin typeface="Calibri" pitchFamily="34" charset="0"/>
                <a:ea typeface="Calibri" pitchFamily="34" charset="-122"/>
                <a:cs typeface="Calibri" pitchFamily="34" charset="-120"/>
              </a:rPr>
              <a:t>Framer Motion</a:t>
            </a:r>
            <a:endParaRPr lang="en-US" sz="1350" dirty="0"/>
          </a:p>
        </p:txBody>
      </p:sp>
      <p:sp>
        <p:nvSpPr>
          <p:cNvPr id="94" name="Shape 91"/>
          <p:cNvSpPr/>
          <p:nvPr/>
        </p:nvSpPr>
        <p:spPr>
          <a:xfrm>
            <a:off x="7479792" y="16047720"/>
            <a:ext cx="6428232" cy="9692640"/>
          </a:xfrm>
          <a:prstGeom prst="roundRect">
            <a:avLst>
              <a:gd name="adj" fmla="val 1280"/>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95" name="Text 92"/>
          <p:cNvSpPr/>
          <p:nvPr/>
        </p:nvSpPr>
        <p:spPr>
          <a:xfrm>
            <a:off x="7845552" y="16322040"/>
            <a:ext cx="5696712" cy="502920"/>
          </a:xfrm>
          <a:prstGeom prst="rect">
            <a:avLst/>
          </a:prstGeom>
          <a:noFill/>
          <a:ln/>
        </p:spPr>
        <p:txBody>
          <a:bodyPr wrap="square" lIns="0" tIns="0" rIns="0" bIns="0" rtlCol="0" anchor="ctr"/>
          <a:lstStyle/>
          <a:p>
            <a:pPr rtl="1" algn="r" indent="0" marL="0">
              <a:buNone/>
            </a:pPr>
            <a:r>
              <a:rPr lang="en-US" sz="2800" b="1" dirty="0">
                <a:solidFill>
                  <a:srgbClr val="1A2235"/>
                </a:solidFill>
                <a:latin typeface="Cairo" pitchFamily="34" charset="0"/>
                <a:ea typeface="Cairo" pitchFamily="34" charset="-122"/>
                <a:cs typeface="Cairo" pitchFamily="34" charset="-120"/>
              </a:rPr>
              <a:t>لقطات من المنصة</a:t>
            </a:r>
            <a:endParaRPr lang="en-US" sz="2800" dirty="0"/>
          </a:p>
        </p:txBody>
      </p:sp>
      <p:pic>
        <p:nvPicPr>
          <p:cNvPr id="96" name="Image 1" descr="assets/shot-home-ar.png">    </p:cNvPr>
          <p:cNvPicPr>
            <a:picLocks noChangeAspect="1"/>
          </p:cNvPicPr>
          <p:nvPr/>
        </p:nvPicPr>
        <p:blipFill>
          <a:blip r:embed="rId2"/>
          <a:stretch>
            <a:fillRect/>
          </a:stretch>
        </p:blipFill>
        <p:spPr>
          <a:xfrm>
            <a:off x="7845552" y="16962120"/>
            <a:ext cx="5696712" cy="3557016"/>
          </a:xfrm>
          <a:prstGeom prst="rect">
            <a:avLst/>
          </a:prstGeom>
        </p:spPr>
      </p:pic>
      <p:sp>
        <p:nvSpPr>
          <p:cNvPr id="97" name="Text 93"/>
          <p:cNvSpPr/>
          <p:nvPr/>
        </p:nvSpPr>
        <p:spPr>
          <a:xfrm>
            <a:off x="7845552" y="20555712"/>
            <a:ext cx="5696712" cy="365760"/>
          </a:xfrm>
          <a:prstGeom prst="rect">
            <a:avLst/>
          </a:prstGeom>
          <a:noFill/>
          <a:ln/>
        </p:spPr>
        <p:txBody>
          <a:bodyPr wrap="square" lIns="0" tIns="0" rIns="0" bIns="0" rtlCol="0" anchor="ctr"/>
          <a:lstStyle/>
          <a:p>
            <a:pPr rtl="1" algn="ctr" indent="0" marL="0">
              <a:buNone/>
            </a:pPr>
            <a:r>
              <a:rPr lang="en-US" sz="1500" dirty="0">
                <a:solidFill>
                  <a:srgbClr val="6B7B8D"/>
                </a:solidFill>
                <a:latin typeface="Cairo" pitchFamily="34" charset="0"/>
                <a:ea typeface="Cairo" pitchFamily="34" charset="-122"/>
                <a:cs typeface="Cairo" pitchFamily="34" charset="-120"/>
              </a:rPr>
              <a:t>الصفحة الرئيسية — واجهة عربية كاملة (RTL)</a:t>
            </a:r>
            <a:endParaRPr lang="en-US" sz="1500" dirty="0"/>
          </a:p>
        </p:txBody>
      </p:sp>
      <p:pic>
        <p:nvPicPr>
          <p:cNvPr id="98" name="Image 2" descr="assets/shot-ai-en.png">    </p:cNvPr>
          <p:cNvPicPr>
            <a:picLocks noChangeAspect="1"/>
          </p:cNvPicPr>
          <p:nvPr/>
        </p:nvPicPr>
        <p:blipFill>
          <a:blip r:embed="rId3"/>
          <a:stretch>
            <a:fillRect/>
          </a:stretch>
        </p:blipFill>
        <p:spPr>
          <a:xfrm>
            <a:off x="7845552" y="21122640"/>
            <a:ext cx="5696712" cy="3557016"/>
          </a:xfrm>
          <a:prstGeom prst="rect">
            <a:avLst/>
          </a:prstGeom>
        </p:spPr>
      </p:pic>
      <p:sp>
        <p:nvSpPr>
          <p:cNvPr id="99" name="Text 94"/>
          <p:cNvSpPr/>
          <p:nvPr/>
        </p:nvSpPr>
        <p:spPr>
          <a:xfrm>
            <a:off x="7845552" y="24716232"/>
            <a:ext cx="5696712" cy="365760"/>
          </a:xfrm>
          <a:prstGeom prst="rect">
            <a:avLst/>
          </a:prstGeom>
          <a:noFill/>
          <a:ln/>
        </p:spPr>
        <p:txBody>
          <a:bodyPr wrap="square" lIns="0" tIns="0" rIns="0" bIns="0" rtlCol="0" anchor="ctr"/>
          <a:lstStyle/>
          <a:p>
            <a:pPr rtl="1" algn="ctr" indent="0" marL="0">
              <a:buNone/>
            </a:pPr>
            <a:r>
              <a:rPr lang="en-US" sz="1500" dirty="0">
                <a:solidFill>
                  <a:srgbClr val="6B7B8D"/>
                </a:solidFill>
                <a:latin typeface="Cairo" pitchFamily="34" charset="0"/>
                <a:ea typeface="Cairo" pitchFamily="34" charset="-122"/>
                <a:cs typeface="Cairo" pitchFamily="34" charset="-120"/>
              </a:rPr>
              <a:t>AI Finder — وصف العطر بلغة طبيعية والذكاء الاصطناعي يرشّح</a:t>
            </a:r>
            <a:endParaRPr lang="en-US" sz="1500" dirty="0"/>
          </a:p>
        </p:txBody>
      </p:sp>
      <p:sp>
        <p:nvSpPr>
          <p:cNvPr id="100" name="Shape 95"/>
          <p:cNvSpPr/>
          <p:nvPr/>
        </p:nvSpPr>
        <p:spPr>
          <a:xfrm>
            <a:off x="7479792" y="26151840"/>
            <a:ext cx="6428232" cy="2286000"/>
          </a:xfrm>
          <a:prstGeom prst="roundRect">
            <a:avLst>
              <a:gd name="adj" fmla="val 3600"/>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101" name="Text 96"/>
          <p:cNvSpPr/>
          <p:nvPr/>
        </p:nvSpPr>
        <p:spPr>
          <a:xfrm>
            <a:off x="7845552" y="26380440"/>
            <a:ext cx="5696712" cy="457200"/>
          </a:xfrm>
          <a:prstGeom prst="rect">
            <a:avLst/>
          </a:prstGeom>
          <a:noFill/>
          <a:ln/>
        </p:spPr>
        <p:txBody>
          <a:bodyPr wrap="square" lIns="0" tIns="0" rIns="0" bIns="0" rtlCol="0" anchor="ctr"/>
          <a:lstStyle/>
          <a:p>
            <a:pPr rtl="1" algn="r" indent="0" marL="0">
              <a:buNone/>
            </a:pPr>
            <a:r>
              <a:rPr lang="en-US" sz="2000" b="1" dirty="0">
                <a:solidFill>
                  <a:srgbClr val="1A2235"/>
                </a:solidFill>
                <a:latin typeface="Cairo" pitchFamily="34" charset="0"/>
                <a:ea typeface="Cairo" pitchFamily="34" charset="-122"/>
                <a:cs typeface="Cairo" pitchFamily="34" charset="-120"/>
              </a:rPr>
              <a:t>منهجية التطوير — تكرارية (Agile)</a:t>
            </a:r>
            <a:endParaRPr lang="en-US" sz="2000" dirty="0"/>
          </a:p>
        </p:txBody>
      </p:sp>
      <p:sp>
        <p:nvSpPr>
          <p:cNvPr id="102" name="Shape 97"/>
          <p:cNvSpPr/>
          <p:nvPr/>
        </p:nvSpPr>
        <p:spPr>
          <a:xfrm>
            <a:off x="7845552" y="27020520"/>
            <a:ext cx="1024128" cy="777240"/>
          </a:xfrm>
          <a:prstGeom prst="roundRect">
            <a:avLst>
              <a:gd name="adj" fmla="val 11765"/>
            </a:avLst>
          </a:prstGeom>
          <a:solidFill>
            <a:srgbClr val="EEF3FA"/>
          </a:solidFill>
          <a:ln w="12700">
            <a:solidFill>
              <a:srgbClr val="3E6BB5"/>
            </a:solidFill>
            <a:prstDash val="solid"/>
          </a:ln>
        </p:spPr>
      </p:sp>
      <p:sp>
        <p:nvSpPr>
          <p:cNvPr id="103" name="Text 98"/>
          <p:cNvSpPr/>
          <p:nvPr/>
        </p:nvSpPr>
        <p:spPr>
          <a:xfrm>
            <a:off x="7845552" y="27020520"/>
            <a:ext cx="1024128" cy="777240"/>
          </a:xfrm>
          <a:prstGeom prst="rect">
            <a:avLst/>
          </a:prstGeom>
          <a:noFill/>
          <a:ln/>
        </p:spPr>
        <p:txBody>
          <a:bodyPr wrap="square" lIns="0" tIns="0" rIns="0" bIns="0" rtlCol="0" anchor="ctr"/>
          <a:lstStyle/>
          <a:p>
            <a:pPr rtl="1" algn="ctr" indent="0" marL="0">
              <a:buNone/>
            </a:pPr>
            <a:r>
              <a:rPr lang="en-US" sz="1500" b="1" dirty="0">
                <a:solidFill>
                  <a:srgbClr val="3E6BB5"/>
                </a:solidFill>
                <a:latin typeface="Cairo" pitchFamily="34" charset="0"/>
                <a:ea typeface="Cairo" pitchFamily="34" charset="-122"/>
                <a:cs typeface="Cairo" pitchFamily="34" charset="-120"/>
              </a:rPr>
              <a:t>النشر</a:t>
            </a:r>
            <a:endParaRPr lang="en-US" sz="1500" dirty="0"/>
          </a:p>
        </p:txBody>
      </p:sp>
      <p:sp>
        <p:nvSpPr>
          <p:cNvPr id="104" name="Shape 99"/>
          <p:cNvSpPr/>
          <p:nvPr/>
        </p:nvSpPr>
        <p:spPr>
          <a:xfrm flipH="1">
            <a:off x="8887968" y="27409140"/>
            <a:ext cx="109728" cy="0"/>
          </a:xfrm>
          <a:prstGeom prst="line">
            <a:avLst/>
          </a:prstGeom>
          <a:noFill/>
          <a:ln w="25400">
            <a:solidFill>
              <a:srgbClr val="6B7B8D"/>
            </a:solidFill>
            <a:prstDash val="solid"/>
            <a:tailEnd type="triangle"/>
          </a:ln>
        </p:spPr>
      </p:sp>
      <p:sp>
        <p:nvSpPr>
          <p:cNvPr id="105" name="Shape 100"/>
          <p:cNvSpPr/>
          <p:nvPr/>
        </p:nvSpPr>
        <p:spPr>
          <a:xfrm>
            <a:off x="9015984" y="27020520"/>
            <a:ext cx="1024128" cy="777240"/>
          </a:xfrm>
          <a:prstGeom prst="roundRect">
            <a:avLst>
              <a:gd name="adj" fmla="val 11765"/>
            </a:avLst>
          </a:prstGeom>
          <a:solidFill>
            <a:srgbClr val="EEF3FA"/>
          </a:solidFill>
          <a:ln w="12700">
            <a:solidFill>
              <a:srgbClr val="3E6BB5"/>
            </a:solidFill>
            <a:prstDash val="solid"/>
          </a:ln>
        </p:spPr>
      </p:sp>
      <p:sp>
        <p:nvSpPr>
          <p:cNvPr id="106" name="Text 101"/>
          <p:cNvSpPr/>
          <p:nvPr/>
        </p:nvSpPr>
        <p:spPr>
          <a:xfrm>
            <a:off x="9015984" y="27020520"/>
            <a:ext cx="1024128" cy="777240"/>
          </a:xfrm>
          <a:prstGeom prst="rect">
            <a:avLst/>
          </a:prstGeom>
          <a:noFill/>
          <a:ln/>
        </p:spPr>
        <p:txBody>
          <a:bodyPr wrap="square" lIns="0" tIns="0" rIns="0" bIns="0" rtlCol="0" anchor="ctr"/>
          <a:lstStyle/>
          <a:p>
            <a:pPr rtl="1" algn="ctr" indent="0" marL="0">
              <a:buNone/>
            </a:pPr>
            <a:r>
              <a:rPr lang="en-US" sz="1500" b="1" dirty="0">
                <a:solidFill>
                  <a:srgbClr val="3E6BB5"/>
                </a:solidFill>
                <a:latin typeface="Cairo" pitchFamily="34" charset="0"/>
                <a:ea typeface="Cairo" pitchFamily="34" charset="-122"/>
                <a:cs typeface="Cairo" pitchFamily="34" charset="-120"/>
              </a:rPr>
              <a:t>الاختبار</a:t>
            </a:r>
            <a:endParaRPr lang="en-US" sz="1500" dirty="0"/>
          </a:p>
        </p:txBody>
      </p:sp>
      <p:sp>
        <p:nvSpPr>
          <p:cNvPr id="107" name="Shape 102"/>
          <p:cNvSpPr/>
          <p:nvPr/>
        </p:nvSpPr>
        <p:spPr>
          <a:xfrm flipH="1">
            <a:off x="10058400" y="27409140"/>
            <a:ext cx="109728" cy="0"/>
          </a:xfrm>
          <a:prstGeom prst="line">
            <a:avLst/>
          </a:prstGeom>
          <a:noFill/>
          <a:ln w="25400">
            <a:solidFill>
              <a:srgbClr val="6B7B8D"/>
            </a:solidFill>
            <a:prstDash val="solid"/>
            <a:tailEnd type="triangle"/>
          </a:ln>
        </p:spPr>
      </p:sp>
      <p:sp>
        <p:nvSpPr>
          <p:cNvPr id="108" name="Shape 103"/>
          <p:cNvSpPr/>
          <p:nvPr/>
        </p:nvSpPr>
        <p:spPr>
          <a:xfrm>
            <a:off x="10186416" y="27020520"/>
            <a:ext cx="1024128" cy="777240"/>
          </a:xfrm>
          <a:prstGeom prst="roundRect">
            <a:avLst>
              <a:gd name="adj" fmla="val 11765"/>
            </a:avLst>
          </a:prstGeom>
          <a:solidFill>
            <a:srgbClr val="EEF3FA"/>
          </a:solidFill>
          <a:ln w="12700">
            <a:solidFill>
              <a:srgbClr val="3E6BB5"/>
            </a:solidFill>
            <a:prstDash val="solid"/>
          </a:ln>
        </p:spPr>
      </p:sp>
      <p:sp>
        <p:nvSpPr>
          <p:cNvPr id="109" name="Text 104"/>
          <p:cNvSpPr/>
          <p:nvPr/>
        </p:nvSpPr>
        <p:spPr>
          <a:xfrm>
            <a:off x="10186416" y="27020520"/>
            <a:ext cx="1024128" cy="777240"/>
          </a:xfrm>
          <a:prstGeom prst="rect">
            <a:avLst/>
          </a:prstGeom>
          <a:noFill/>
          <a:ln/>
        </p:spPr>
        <p:txBody>
          <a:bodyPr wrap="square" lIns="0" tIns="0" rIns="0" bIns="0" rtlCol="0" anchor="ctr"/>
          <a:lstStyle/>
          <a:p>
            <a:pPr rtl="1" algn="ctr" indent="0" marL="0">
              <a:buNone/>
            </a:pPr>
            <a:r>
              <a:rPr lang="en-US" sz="1500" b="1" dirty="0">
                <a:solidFill>
                  <a:srgbClr val="3E6BB5"/>
                </a:solidFill>
                <a:latin typeface="Cairo" pitchFamily="34" charset="0"/>
                <a:ea typeface="Cairo" pitchFamily="34" charset="-122"/>
                <a:cs typeface="Cairo" pitchFamily="34" charset="-120"/>
              </a:rPr>
              <a:t>التنفيذ</a:t>
            </a:r>
            <a:endParaRPr lang="en-US" sz="1500" dirty="0"/>
          </a:p>
        </p:txBody>
      </p:sp>
      <p:sp>
        <p:nvSpPr>
          <p:cNvPr id="110" name="Shape 105"/>
          <p:cNvSpPr/>
          <p:nvPr/>
        </p:nvSpPr>
        <p:spPr>
          <a:xfrm flipH="1">
            <a:off x="11228832" y="27409140"/>
            <a:ext cx="109728" cy="0"/>
          </a:xfrm>
          <a:prstGeom prst="line">
            <a:avLst/>
          </a:prstGeom>
          <a:noFill/>
          <a:ln w="25400">
            <a:solidFill>
              <a:srgbClr val="6B7B8D"/>
            </a:solidFill>
            <a:prstDash val="solid"/>
            <a:tailEnd type="triangle"/>
          </a:ln>
        </p:spPr>
      </p:sp>
      <p:sp>
        <p:nvSpPr>
          <p:cNvPr id="111" name="Shape 106"/>
          <p:cNvSpPr/>
          <p:nvPr/>
        </p:nvSpPr>
        <p:spPr>
          <a:xfrm>
            <a:off x="11356848" y="27020520"/>
            <a:ext cx="1024128" cy="777240"/>
          </a:xfrm>
          <a:prstGeom prst="roundRect">
            <a:avLst>
              <a:gd name="adj" fmla="val 11765"/>
            </a:avLst>
          </a:prstGeom>
          <a:solidFill>
            <a:srgbClr val="EEF3FA"/>
          </a:solidFill>
          <a:ln w="12700">
            <a:solidFill>
              <a:srgbClr val="3E6BB5"/>
            </a:solidFill>
            <a:prstDash val="solid"/>
          </a:ln>
        </p:spPr>
      </p:sp>
      <p:sp>
        <p:nvSpPr>
          <p:cNvPr id="112" name="Text 107"/>
          <p:cNvSpPr/>
          <p:nvPr/>
        </p:nvSpPr>
        <p:spPr>
          <a:xfrm>
            <a:off x="11356848" y="27020520"/>
            <a:ext cx="1024128" cy="777240"/>
          </a:xfrm>
          <a:prstGeom prst="rect">
            <a:avLst/>
          </a:prstGeom>
          <a:noFill/>
          <a:ln/>
        </p:spPr>
        <p:txBody>
          <a:bodyPr wrap="square" lIns="0" tIns="0" rIns="0" bIns="0" rtlCol="0" anchor="ctr"/>
          <a:lstStyle/>
          <a:p>
            <a:pPr rtl="1" algn="ctr" indent="0" marL="0">
              <a:buNone/>
            </a:pPr>
            <a:r>
              <a:rPr lang="en-US" sz="1500" b="1" dirty="0">
                <a:solidFill>
                  <a:srgbClr val="3E6BB5"/>
                </a:solidFill>
                <a:latin typeface="Cairo" pitchFamily="34" charset="0"/>
                <a:ea typeface="Cairo" pitchFamily="34" charset="-122"/>
                <a:cs typeface="Cairo" pitchFamily="34" charset="-120"/>
              </a:rPr>
              <a:t>التصميم</a:t>
            </a:r>
            <a:endParaRPr lang="en-US" sz="1500" dirty="0"/>
          </a:p>
        </p:txBody>
      </p:sp>
      <p:sp>
        <p:nvSpPr>
          <p:cNvPr id="113" name="Shape 108"/>
          <p:cNvSpPr/>
          <p:nvPr/>
        </p:nvSpPr>
        <p:spPr>
          <a:xfrm flipH="1">
            <a:off x="12399264" y="27409140"/>
            <a:ext cx="109728" cy="0"/>
          </a:xfrm>
          <a:prstGeom prst="line">
            <a:avLst/>
          </a:prstGeom>
          <a:noFill/>
          <a:ln w="25400">
            <a:solidFill>
              <a:srgbClr val="6B7B8D"/>
            </a:solidFill>
            <a:prstDash val="solid"/>
            <a:tailEnd type="triangle"/>
          </a:ln>
        </p:spPr>
      </p:sp>
      <p:sp>
        <p:nvSpPr>
          <p:cNvPr id="114" name="Shape 109"/>
          <p:cNvSpPr/>
          <p:nvPr/>
        </p:nvSpPr>
        <p:spPr>
          <a:xfrm>
            <a:off x="12527280" y="27020520"/>
            <a:ext cx="1024128" cy="777240"/>
          </a:xfrm>
          <a:prstGeom prst="roundRect">
            <a:avLst>
              <a:gd name="adj" fmla="val 11765"/>
            </a:avLst>
          </a:prstGeom>
          <a:solidFill>
            <a:srgbClr val="3E6BB5"/>
          </a:solidFill>
          <a:ln w="12700">
            <a:solidFill>
              <a:srgbClr val="3E6BB5"/>
            </a:solidFill>
            <a:prstDash val="solid"/>
          </a:ln>
        </p:spPr>
      </p:sp>
      <p:sp>
        <p:nvSpPr>
          <p:cNvPr id="115" name="Text 110"/>
          <p:cNvSpPr/>
          <p:nvPr/>
        </p:nvSpPr>
        <p:spPr>
          <a:xfrm>
            <a:off x="12527280" y="27020520"/>
            <a:ext cx="1024128" cy="777240"/>
          </a:xfrm>
          <a:prstGeom prst="rect">
            <a:avLst/>
          </a:prstGeom>
          <a:noFill/>
          <a:ln/>
        </p:spPr>
        <p:txBody>
          <a:bodyPr wrap="square" lIns="0" tIns="0" rIns="0" bIns="0" rtlCol="0" anchor="ctr"/>
          <a:lstStyle/>
          <a:p>
            <a:pPr rtl="1" algn="ctr" indent="0" marL="0">
              <a:buNone/>
            </a:pPr>
            <a:r>
              <a:rPr lang="en-US" sz="1500" b="1" dirty="0">
                <a:solidFill>
                  <a:srgbClr val="FFFFFF"/>
                </a:solidFill>
                <a:latin typeface="Cairo" pitchFamily="34" charset="0"/>
                <a:ea typeface="Cairo" pitchFamily="34" charset="-122"/>
                <a:cs typeface="Cairo" pitchFamily="34" charset="-120"/>
              </a:rPr>
              <a:t>التحليل</a:t>
            </a:r>
            <a:endParaRPr lang="en-US" sz="1500" dirty="0"/>
          </a:p>
        </p:txBody>
      </p:sp>
      <p:sp>
        <p:nvSpPr>
          <p:cNvPr id="116" name="Shape 111"/>
          <p:cNvSpPr/>
          <p:nvPr/>
        </p:nvSpPr>
        <p:spPr>
          <a:xfrm>
            <a:off x="640080" y="4297680"/>
            <a:ext cx="6428232" cy="8503920"/>
          </a:xfrm>
          <a:prstGeom prst="roundRect">
            <a:avLst>
              <a:gd name="adj" fmla="val 1280"/>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117" name="Shape 112"/>
          <p:cNvSpPr/>
          <p:nvPr/>
        </p:nvSpPr>
        <p:spPr>
          <a:xfrm>
            <a:off x="6135624" y="4572000"/>
            <a:ext cx="566928" cy="566928"/>
          </a:xfrm>
          <a:prstGeom prst="ellipse">
            <a:avLst/>
          </a:prstGeom>
          <a:solidFill>
            <a:srgbClr val="3E6BB5"/>
          </a:solidFill>
          <a:ln/>
        </p:spPr>
      </p:sp>
      <p:sp>
        <p:nvSpPr>
          <p:cNvPr id="118" name="Text 113"/>
          <p:cNvSpPr/>
          <p:nvPr/>
        </p:nvSpPr>
        <p:spPr>
          <a:xfrm>
            <a:off x="6135624" y="457200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iro" pitchFamily="34" charset="0"/>
                <a:ea typeface="Cairo" pitchFamily="34" charset="-122"/>
                <a:cs typeface="Cairo" pitchFamily="34" charset="-120"/>
              </a:rPr>
              <a:t>٥</a:t>
            </a:r>
            <a:endParaRPr lang="en-US" sz="2600" dirty="0"/>
          </a:p>
        </p:txBody>
      </p:sp>
      <p:sp>
        <p:nvSpPr>
          <p:cNvPr id="119" name="Text 114"/>
          <p:cNvSpPr/>
          <p:nvPr/>
        </p:nvSpPr>
        <p:spPr>
          <a:xfrm>
            <a:off x="1005840" y="4517136"/>
            <a:ext cx="4901184" cy="676656"/>
          </a:xfrm>
          <a:prstGeom prst="rect">
            <a:avLst/>
          </a:prstGeom>
          <a:noFill/>
          <a:ln/>
        </p:spPr>
        <p:txBody>
          <a:bodyPr wrap="square" lIns="0" tIns="0" rIns="0" bIns="0" rtlCol="0" anchor="ctr"/>
          <a:lstStyle/>
          <a:p>
            <a:pPr rtl="1" algn="r" indent="0" marL="0">
              <a:buNone/>
            </a:pPr>
            <a:r>
              <a:rPr lang="en-US" sz="3000" b="1" dirty="0">
                <a:solidFill>
                  <a:srgbClr val="1A2235"/>
                </a:solidFill>
                <a:latin typeface="Cairo" pitchFamily="34" charset="0"/>
                <a:ea typeface="Cairo" pitchFamily="34" charset="-122"/>
                <a:cs typeface="Cairo" pitchFamily="34" charset="-120"/>
              </a:rPr>
              <a:t>النتائج والأرقام</a:t>
            </a:r>
            <a:endParaRPr lang="en-US" sz="3000" dirty="0"/>
          </a:p>
        </p:txBody>
      </p:sp>
      <p:sp>
        <p:nvSpPr>
          <p:cNvPr id="120" name="Shape 115"/>
          <p:cNvSpPr/>
          <p:nvPr/>
        </p:nvSpPr>
        <p:spPr>
          <a:xfrm>
            <a:off x="3968496" y="5532120"/>
            <a:ext cx="2734056" cy="1828800"/>
          </a:xfrm>
          <a:prstGeom prst="roundRect">
            <a:avLst>
              <a:gd name="adj" fmla="val 4500"/>
            </a:avLst>
          </a:prstGeom>
          <a:solidFill>
            <a:srgbClr val="1A2235"/>
          </a:solidFill>
          <a:ln/>
        </p:spPr>
      </p:sp>
      <p:sp>
        <p:nvSpPr>
          <p:cNvPr id="121" name="Text 116"/>
          <p:cNvSpPr/>
          <p:nvPr/>
        </p:nvSpPr>
        <p:spPr>
          <a:xfrm>
            <a:off x="3968496" y="5696712"/>
            <a:ext cx="2734056" cy="914400"/>
          </a:xfrm>
          <a:prstGeom prst="rect">
            <a:avLst/>
          </a:prstGeom>
          <a:noFill/>
          <a:ln/>
        </p:spPr>
        <p:txBody>
          <a:bodyPr wrap="square" lIns="0" tIns="0" rIns="0" bIns="0" rtlCol="0" anchor="ctr"/>
          <a:lstStyle/>
          <a:p>
            <a:pPr algn="ctr" indent="0" marL="0">
              <a:buNone/>
            </a:pPr>
            <a:r>
              <a:rPr lang="en-US" sz="4600" b="1" dirty="0">
                <a:solidFill>
                  <a:srgbClr val="F0C03E"/>
                </a:solidFill>
                <a:latin typeface="Calibri" pitchFamily="34" charset="0"/>
                <a:ea typeface="Calibri" pitchFamily="34" charset="-122"/>
                <a:cs typeface="Calibri" pitchFamily="34" charset="-120"/>
              </a:rPr>
              <a:t>+25</a:t>
            </a:r>
            <a:endParaRPr lang="en-US" sz="4600" dirty="0"/>
          </a:p>
        </p:txBody>
      </p:sp>
      <p:sp>
        <p:nvSpPr>
          <p:cNvPr id="122" name="Text 117"/>
          <p:cNvSpPr/>
          <p:nvPr/>
        </p:nvSpPr>
        <p:spPr>
          <a:xfrm>
            <a:off x="4105656" y="6629400"/>
            <a:ext cx="2459736" cy="658368"/>
          </a:xfrm>
          <a:prstGeom prst="rect">
            <a:avLst/>
          </a:prstGeom>
          <a:noFill/>
          <a:ln/>
        </p:spPr>
        <p:txBody>
          <a:bodyPr wrap="square" lIns="0" tIns="0" rIns="0" bIns="0" rtlCol="0" anchor="t"/>
          <a:lstStyle/>
          <a:p>
            <a:pPr rtl="1" algn="ctr" indent="0" marL="0">
              <a:buNone/>
            </a:pPr>
            <a:r>
              <a:rPr lang="en-US" sz="1450" dirty="0">
                <a:solidFill>
                  <a:srgbClr val="CADCFC"/>
                </a:solidFill>
                <a:latin typeface="Cairo" pitchFamily="34" charset="0"/>
                <a:ea typeface="Cairo" pitchFamily="34" charset="-122"/>
                <a:cs typeface="Cairo" pitchFamily="34" charset="-120"/>
              </a:rPr>
              <a:t>صفحة كاملة الوظائف بلغتين</a:t>
            </a:r>
            <a:endParaRPr lang="en-US" sz="1450" dirty="0"/>
          </a:p>
        </p:txBody>
      </p:sp>
      <p:sp>
        <p:nvSpPr>
          <p:cNvPr id="123" name="Shape 118"/>
          <p:cNvSpPr/>
          <p:nvPr/>
        </p:nvSpPr>
        <p:spPr>
          <a:xfrm>
            <a:off x="1005840" y="5532120"/>
            <a:ext cx="2734056" cy="1828800"/>
          </a:xfrm>
          <a:prstGeom prst="roundRect">
            <a:avLst>
              <a:gd name="adj" fmla="val 4500"/>
            </a:avLst>
          </a:prstGeom>
          <a:solidFill>
            <a:srgbClr val="EEF3FA"/>
          </a:solidFill>
          <a:ln/>
        </p:spPr>
      </p:sp>
      <p:sp>
        <p:nvSpPr>
          <p:cNvPr id="124" name="Text 119"/>
          <p:cNvSpPr/>
          <p:nvPr/>
        </p:nvSpPr>
        <p:spPr>
          <a:xfrm>
            <a:off x="1005840" y="5696712"/>
            <a:ext cx="2734056" cy="914400"/>
          </a:xfrm>
          <a:prstGeom prst="rect">
            <a:avLst/>
          </a:prstGeom>
          <a:noFill/>
          <a:ln/>
        </p:spPr>
        <p:txBody>
          <a:bodyPr wrap="square" lIns="0" tIns="0" rIns="0" bIns="0" rtlCol="0" anchor="ctr"/>
          <a:lstStyle/>
          <a:p>
            <a:pPr algn="ctr" indent="0" marL="0">
              <a:buNone/>
            </a:pPr>
            <a:r>
              <a:rPr lang="en-US" sz="4600" b="1" dirty="0">
                <a:solidFill>
                  <a:srgbClr val="3E6BB5"/>
                </a:solidFill>
                <a:latin typeface="Calibri" pitchFamily="34" charset="0"/>
                <a:ea typeface="Calibri" pitchFamily="34" charset="-122"/>
                <a:cs typeface="Calibri" pitchFamily="34" charset="-120"/>
              </a:rPr>
              <a:t>+1,400</a:t>
            </a:r>
            <a:endParaRPr lang="en-US" sz="4600" dirty="0"/>
          </a:p>
        </p:txBody>
      </p:sp>
      <p:sp>
        <p:nvSpPr>
          <p:cNvPr id="125" name="Text 120"/>
          <p:cNvSpPr/>
          <p:nvPr/>
        </p:nvSpPr>
        <p:spPr>
          <a:xfrm>
            <a:off x="1143000" y="6629400"/>
            <a:ext cx="2459736" cy="658368"/>
          </a:xfrm>
          <a:prstGeom prst="rect">
            <a:avLst/>
          </a:prstGeom>
          <a:noFill/>
          <a:ln/>
        </p:spPr>
        <p:txBody>
          <a:bodyPr wrap="square" lIns="0" tIns="0" rIns="0" bIns="0" rtlCol="0" anchor="t"/>
          <a:lstStyle/>
          <a:p>
            <a:pPr rtl="1" algn="ctr" indent="0" marL="0">
              <a:buNone/>
            </a:pPr>
            <a:r>
              <a:rPr lang="en-US" sz="1450" dirty="0">
                <a:solidFill>
                  <a:srgbClr val="323D50"/>
                </a:solidFill>
                <a:latin typeface="Cairo" pitchFamily="34" charset="0"/>
                <a:ea typeface="Cairo" pitchFamily="34" charset="-122"/>
                <a:cs typeface="Cairo" pitchFamily="34" charset="-120"/>
              </a:rPr>
              <a:t>مفتاح ترجمة عربي/إنجليزي</a:t>
            </a:r>
            <a:endParaRPr lang="en-US" sz="1450" dirty="0"/>
          </a:p>
        </p:txBody>
      </p:sp>
      <p:sp>
        <p:nvSpPr>
          <p:cNvPr id="126" name="Shape 121"/>
          <p:cNvSpPr/>
          <p:nvPr/>
        </p:nvSpPr>
        <p:spPr>
          <a:xfrm>
            <a:off x="3968496" y="7635240"/>
            <a:ext cx="2734056" cy="1828800"/>
          </a:xfrm>
          <a:prstGeom prst="roundRect">
            <a:avLst>
              <a:gd name="adj" fmla="val 4500"/>
            </a:avLst>
          </a:prstGeom>
          <a:solidFill>
            <a:srgbClr val="1A2235"/>
          </a:solidFill>
          <a:ln/>
        </p:spPr>
      </p:sp>
      <p:sp>
        <p:nvSpPr>
          <p:cNvPr id="127" name="Text 122"/>
          <p:cNvSpPr/>
          <p:nvPr/>
        </p:nvSpPr>
        <p:spPr>
          <a:xfrm>
            <a:off x="3968496" y="7799832"/>
            <a:ext cx="2734056" cy="914400"/>
          </a:xfrm>
          <a:prstGeom prst="rect">
            <a:avLst/>
          </a:prstGeom>
          <a:noFill/>
          <a:ln/>
        </p:spPr>
        <p:txBody>
          <a:bodyPr wrap="square" lIns="0" tIns="0" rIns="0" bIns="0" rtlCol="0" anchor="ctr"/>
          <a:lstStyle/>
          <a:p>
            <a:pPr algn="ctr" indent="0" marL="0">
              <a:buNone/>
            </a:pPr>
            <a:r>
              <a:rPr lang="en-US" sz="4600" b="1" dirty="0">
                <a:solidFill>
                  <a:srgbClr val="F0C03E"/>
                </a:solidFill>
                <a:latin typeface="Calibri" pitchFamily="34" charset="0"/>
                <a:ea typeface="Calibri" pitchFamily="34" charset="-122"/>
                <a:cs typeface="Calibri" pitchFamily="34" charset="-120"/>
              </a:rPr>
              <a:t>3</a:t>
            </a:r>
            <a:endParaRPr lang="en-US" sz="4600" dirty="0"/>
          </a:p>
        </p:txBody>
      </p:sp>
      <p:sp>
        <p:nvSpPr>
          <p:cNvPr id="128" name="Text 123"/>
          <p:cNvSpPr/>
          <p:nvPr/>
        </p:nvSpPr>
        <p:spPr>
          <a:xfrm>
            <a:off x="4105656" y="8732520"/>
            <a:ext cx="2459736" cy="658368"/>
          </a:xfrm>
          <a:prstGeom prst="rect">
            <a:avLst/>
          </a:prstGeom>
          <a:noFill/>
          <a:ln/>
        </p:spPr>
        <p:txBody>
          <a:bodyPr wrap="square" lIns="0" tIns="0" rIns="0" bIns="0" rtlCol="0" anchor="t"/>
          <a:lstStyle/>
          <a:p>
            <a:pPr rtl="1" algn="ctr" indent="0" marL="0">
              <a:buNone/>
            </a:pPr>
            <a:r>
              <a:rPr lang="en-US" sz="1450" dirty="0">
                <a:solidFill>
                  <a:srgbClr val="CADCFC"/>
                </a:solidFill>
                <a:latin typeface="Cairo" pitchFamily="34" charset="0"/>
                <a:ea typeface="Cairo" pitchFamily="34" charset="-122"/>
                <a:cs typeface="Cairo" pitchFamily="34" charset="-120"/>
              </a:rPr>
              <a:t>نماذج ذكاء اصطناعي متخصصة</a:t>
            </a:r>
            <a:endParaRPr lang="en-US" sz="1450" dirty="0"/>
          </a:p>
        </p:txBody>
      </p:sp>
      <p:sp>
        <p:nvSpPr>
          <p:cNvPr id="129" name="Shape 124"/>
          <p:cNvSpPr/>
          <p:nvPr/>
        </p:nvSpPr>
        <p:spPr>
          <a:xfrm>
            <a:off x="1005840" y="7635240"/>
            <a:ext cx="2734056" cy="1828800"/>
          </a:xfrm>
          <a:prstGeom prst="roundRect">
            <a:avLst>
              <a:gd name="adj" fmla="val 4500"/>
            </a:avLst>
          </a:prstGeom>
          <a:solidFill>
            <a:srgbClr val="EEF3FA"/>
          </a:solidFill>
          <a:ln/>
        </p:spPr>
      </p:sp>
      <p:sp>
        <p:nvSpPr>
          <p:cNvPr id="130" name="Text 125"/>
          <p:cNvSpPr/>
          <p:nvPr/>
        </p:nvSpPr>
        <p:spPr>
          <a:xfrm>
            <a:off x="1005840" y="7799832"/>
            <a:ext cx="2734056" cy="914400"/>
          </a:xfrm>
          <a:prstGeom prst="rect">
            <a:avLst/>
          </a:prstGeom>
          <a:noFill/>
          <a:ln/>
        </p:spPr>
        <p:txBody>
          <a:bodyPr wrap="square" lIns="0" tIns="0" rIns="0" bIns="0" rtlCol="0" anchor="ctr"/>
          <a:lstStyle/>
          <a:p>
            <a:pPr algn="ctr" indent="0" marL="0">
              <a:buNone/>
            </a:pPr>
            <a:r>
              <a:rPr lang="en-US" sz="4600" b="1" dirty="0">
                <a:solidFill>
                  <a:srgbClr val="3E6BB5"/>
                </a:solidFill>
                <a:latin typeface="Calibri" pitchFamily="34" charset="0"/>
                <a:ea typeface="Calibri" pitchFamily="34" charset="-122"/>
                <a:cs typeface="Calibri" pitchFamily="34" charset="-120"/>
              </a:rPr>
              <a:t>7</a:t>
            </a:r>
            <a:endParaRPr lang="en-US" sz="4600" dirty="0"/>
          </a:p>
        </p:txBody>
      </p:sp>
      <p:sp>
        <p:nvSpPr>
          <p:cNvPr id="131" name="Text 126"/>
          <p:cNvSpPr/>
          <p:nvPr/>
        </p:nvSpPr>
        <p:spPr>
          <a:xfrm>
            <a:off x="1143000" y="8732520"/>
            <a:ext cx="2459736" cy="658368"/>
          </a:xfrm>
          <a:prstGeom prst="rect">
            <a:avLst/>
          </a:prstGeom>
          <a:noFill/>
          <a:ln/>
        </p:spPr>
        <p:txBody>
          <a:bodyPr wrap="square" lIns="0" tIns="0" rIns="0" bIns="0" rtlCol="0" anchor="t"/>
          <a:lstStyle/>
          <a:p>
            <a:pPr rtl="1" algn="ctr" indent="0" marL="0">
              <a:buNone/>
            </a:pPr>
            <a:r>
              <a:rPr lang="en-US" sz="1450" dirty="0">
                <a:solidFill>
                  <a:srgbClr val="323D50"/>
                </a:solidFill>
                <a:latin typeface="Cairo" pitchFamily="34" charset="0"/>
                <a:ea typeface="Cairo" pitchFamily="34" charset="-122"/>
                <a:cs typeface="Cairo" pitchFamily="34" charset="-120"/>
              </a:rPr>
              <a:t>وظائف سحابية Serverless</a:t>
            </a:r>
            <a:endParaRPr lang="en-US" sz="1450" dirty="0"/>
          </a:p>
        </p:txBody>
      </p:sp>
      <p:sp>
        <p:nvSpPr>
          <p:cNvPr id="132" name="Shape 127"/>
          <p:cNvSpPr/>
          <p:nvPr/>
        </p:nvSpPr>
        <p:spPr>
          <a:xfrm>
            <a:off x="3968496" y="9738360"/>
            <a:ext cx="2734056" cy="1828800"/>
          </a:xfrm>
          <a:prstGeom prst="roundRect">
            <a:avLst>
              <a:gd name="adj" fmla="val 4500"/>
            </a:avLst>
          </a:prstGeom>
          <a:solidFill>
            <a:srgbClr val="1A2235"/>
          </a:solidFill>
          <a:ln/>
        </p:spPr>
      </p:sp>
      <p:sp>
        <p:nvSpPr>
          <p:cNvPr id="133" name="Text 128"/>
          <p:cNvSpPr/>
          <p:nvPr/>
        </p:nvSpPr>
        <p:spPr>
          <a:xfrm>
            <a:off x="3968496" y="9902952"/>
            <a:ext cx="2734056" cy="914400"/>
          </a:xfrm>
          <a:prstGeom prst="rect">
            <a:avLst/>
          </a:prstGeom>
          <a:noFill/>
          <a:ln/>
        </p:spPr>
        <p:txBody>
          <a:bodyPr wrap="square" lIns="0" tIns="0" rIns="0" bIns="0" rtlCol="0" anchor="ctr"/>
          <a:lstStyle/>
          <a:p>
            <a:pPr algn="ctr" indent="0" marL="0">
              <a:buNone/>
            </a:pPr>
            <a:r>
              <a:rPr lang="en-US" sz="4600" b="1" dirty="0">
                <a:solidFill>
                  <a:srgbClr val="F0C03E"/>
                </a:solidFill>
                <a:latin typeface="Calibri" pitchFamily="34" charset="0"/>
                <a:ea typeface="Calibri" pitchFamily="34" charset="-122"/>
                <a:cs typeface="Calibri" pitchFamily="34" charset="-120"/>
              </a:rPr>
              <a:t>8</a:t>
            </a:r>
            <a:endParaRPr lang="en-US" sz="4600" dirty="0"/>
          </a:p>
        </p:txBody>
      </p:sp>
      <p:sp>
        <p:nvSpPr>
          <p:cNvPr id="134" name="Text 129"/>
          <p:cNvSpPr/>
          <p:nvPr/>
        </p:nvSpPr>
        <p:spPr>
          <a:xfrm>
            <a:off x="4105656" y="10835640"/>
            <a:ext cx="2459736" cy="658368"/>
          </a:xfrm>
          <a:prstGeom prst="rect">
            <a:avLst/>
          </a:prstGeom>
          <a:noFill/>
          <a:ln/>
        </p:spPr>
        <p:txBody>
          <a:bodyPr wrap="square" lIns="0" tIns="0" rIns="0" bIns="0" rtlCol="0" anchor="t"/>
          <a:lstStyle/>
          <a:p>
            <a:pPr rtl="1" algn="ctr" indent="0" marL="0">
              <a:buNone/>
            </a:pPr>
            <a:r>
              <a:rPr lang="en-US" sz="1450" dirty="0">
                <a:solidFill>
                  <a:srgbClr val="CADCFC"/>
                </a:solidFill>
                <a:latin typeface="Cairo" pitchFamily="34" charset="0"/>
                <a:ea typeface="Cairo" pitchFamily="34" charset="-122"/>
                <a:cs typeface="Cairo" pitchFamily="34" charset="-120"/>
              </a:rPr>
              <a:t>حِزم اختبارات E2E آلية</a:t>
            </a:r>
            <a:endParaRPr lang="en-US" sz="1450" dirty="0"/>
          </a:p>
        </p:txBody>
      </p:sp>
      <p:sp>
        <p:nvSpPr>
          <p:cNvPr id="135" name="Shape 130"/>
          <p:cNvSpPr/>
          <p:nvPr/>
        </p:nvSpPr>
        <p:spPr>
          <a:xfrm>
            <a:off x="1005840" y="9738360"/>
            <a:ext cx="2734056" cy="1828800"/>
          </a:xfrm>
          <a:prstGeom prst="roundRect">
            <a:avLst>
              <a:gd name="adj" fmla="val 4500"/>
            </a:avLst>
          </a:prstGeom>
          <a:solidFill>
            <a:srgbClr val="EEF3FA"/>
          </a:solidFill>
          <a:ln/>
        </p:spPr>
      </p:sp>
      <p:sp>
        <p:nvSpPr>
          <p:cNvPr id="136" name="Text 131"/>
          <p:cNvSpPr/>
          <p:nvPr/>
        </p:nvSpPr>
        <p:spPr>
          <a:xfrm>
            <a:off x="1005840" y="9902952"/>
            <a:ext cx="2734056" cy="914400"/>
          </a:xfrm>
          <a:prstGeom prst="rect">
            <a:avLst/>
          </a:prstGeom>
          <a:noFill/>
          <a:ln/>
        </p:spPr>
        <p:txBody>
          <a:bodyPr wrap="square" lIns="0" tIns="0" rIns="0" bIns="0" rtlCol="0" anchor="ctr"/>
          <a:lstStyle/>
          <a:p>
            <a:pPr algn="ctr" indent="0" marL="0">
              <a:buNone/>
            </a:pPr>
            <a:r>
              <a:rPr lang="en-US" sz="4600" b="1" dirty="0">
                <a:solidFill>
                  <a:srgbClr val="3E6BB5"/>
                </a:solidFill>
                <a:latin typeface="Calibri" pitchFamily="34" charset="0"/>
                <a:ea typeface="Calibri" pitchFamily="34" charset="-122"/>
                <a:cs typeface="Calibri" pitchFamily="34" charset="-120"/>
              </a:rPr>
              <a:t>−50%</a:t>
            </a:r>
            <a:endParaRPr lang="en-US" sz="4600" dirty="0"/>
          </a:p>
        </p:txBody>
      </p:sp>
      <p:sp>
        <p:nvSpPr>
          <p:cNvPr id="137" name="Text 132"/>
          <p:cNvSpPr/>
          <p:nvPr/>
        </p:nvSpPr>
        <p:spPr>
          <a:xfrm>
            <a:off x="1143000" y="10835640"/>
            <a:ext cx="2459736" cy="658368"/>
          </a:xfrm>
          <a:prstGeom prst="rect">
            <a:avLst/>
          </a:prstGeom>
          <a:noFill/>
          <a:ln/>
        </p:spPr>
        <p:txBody>
          <a:bodyPr wrap="square" lIns="0" tIns="0" rIns="0" bIns="0" rtlCol="0" anchor="t"/>
          <a:lstStyle/>
          <a:p>
            <a:pPr rtl="1" algn="ctr" indent="0" marL="0">
              <a:buNone/>
            </a:pPr>
            <a:r>
              <a:rPr lang="en-US" sz="1450" dirty="0">
                <a:solidFill>
                  <a:srgbClr val="323D50"/>
                </a:solidFill>
                <a:latin typeface="Cairo" pitchFamily="34" charset="0"/>
                <a:ea typeface="Cairo" pitchFamily="34" charset="-122"/>
                <a:cs typeface="Cairo" pitchFamily="34" charset="-120"/>
              </a:rPr>
              <a:t>حجم JavaScript على الهاتف</a:t>
            </a:r>
            <a:endParaRPr lang="en-US" sz="1450" dirty="0"/>
          </a:p>
        </p:txBody>
      </p:sp>
      <p:sp>
        <p:nvSpPr>
          <p:cNvPr id="138" name="Text 133"/>
          <p:cNvSpPr/>
          <p:nvPr/>
        </p:nvSpPr>
        <p:spPr>
          <a:xfrm>
            <a:off x="1005840" y="11841480"/>
            <a:ext cx="5696712" cy="822960"/>
          </a:xfrm>
          <a:prstGeom prst="rect">
            <a:avLst/>
          </a:prstGeom>
          <a:noFill/>
          <a:ln/>
        </p:spPr>
        <p:txBody>
          <a:bodyPr wrap="square" lIns="0" tIns="0" rIns="0" bIns="0" rtlCol="0" anchor="t"/>
          <a:lstStyle/>
          <a:p>
            <a:pPr rtl="1" algn="r" indent="0" marL="0">
              <a:lnSpc>
                <a:spcPct val="115000"/>
              </a:lnSpc>
              <a:buNone/>
            </a:pPr>
            <a:r>
              <a:rPr lang="en-US" sz="1650" i="1" dirty="0">
                <a:solidFill>
                  <a:srgbClr val="6B7B8D"/>
                </a:solidFill>
                <a:latin typeface="Cairo" pitchFamily="34" charset="0"/>
                <a:ea typeface="Cairo" pitchFamily="34" charset="-122"/>
                <a:cs typeface="Cairo" pitchFamily="34" charset="-120"/>
              </a:rPr>
              <a:t>فلترة المراجعات تعمل تلقائياً، والمنصة تعمل فعلياً على نطاق shama.ly مع توصيل حقيقي يغطي المدن الليبية.</a:t>
            </a:r>
            <a:endParaRPr lang="en-US" sz="1650" dirty="0"/>
          </a:p>
        </p:txBody>
      </p:sp>
      <p:sp>
        <p:nvSpPr>
          <p:cNvPr id="139" name="Shape 134"/>
          <p:cNvSpPr/>
          <p:nvPr/>
        </p:nvSpPr>
        <p:spPr>
          <a:xfrm>
            <a:off x="640080" y="13213080"/>
            <a:ext cx="6428232" cy="4572000"/>
          </a:xfrm>
          <a:prstGeom prst="roundRect">
            <a:avLst>
              <a:gd name="adj" fmla="val 1800"/>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pic>
        <p:nvPicPr>
          <p:cNvPr id="140" name="Image 3" descr="assets/shot-collection-ar.png">    </p:cNvPr>
          <p:cNvPicPr>
            <a:picLocks noChangeAspect="1"/>
          </p:cNvPicPr>
          <p:nvPr/>
        </p:nvPicPr>
        <p:blipFill>
          <a:blip r:embed="rId4"/>
          <a:stretch>
            <a:fillRect/>
          </a:stretch>
        </p:blipFill>
        <p:spPr>
          <a:xfrm>
            <a:off x="1005840" y="13487400"/>
            <a:ext cx="5696712" cy="3557016"/>
          </a:xfrm>
          <a:prstGeom prst="rect">
            <a:avLst/>
          </a:prstGeom>
        </p:spPr>
      </p:pic>
      <p:sp>
        <p:nvSpPr>
          <p:cNvPr id="141" name="Text 135"/>
          <p:cNvSpPr/>
          <p:nvPr/>
        </p:nvSpPr>
        <p:spPr>
          <a:xfrm>
            <a:off x="1005840" y="17099280"/>
            <a:ext cx="5696712" cy="365760"/>
          </a:xfrm>
          <a:prstGeom prst="rect">
            <a:avLst/>
          </a:prstGeom>
          <a:noFill/>
          <a:ln/>
        </p:spPr>
        <p:txBody>
          <a:bodyPr wrap="square" lIns="0" tIns="0" rIns="0" bIns="0" rtlCol="0" anchor="ctr"/>
          <a:lstStyle/>
          <a:p>
            <a:pPr rtl="1" algn="ctr" indent="0" marL="0">
              <a:buNone/>
            </a:pPr>
            <a:r>
              <a:rPr lang="en-US" sz="1500" dirty="0">
                <a:solidFill>
                  <a:srgbClr val="6B7B8D"/>
                </a:solidFill>
                <a:latin typeface="Cairo" pitchFamily="34" charset="0"/>
                <a:ea typeface="Cairo" pitchFamily="34" charset="-122"/>
                <a:cs typeface="Cairo" pitchFamily="34" charset="-120"/>
              </a:rPr>
              <a:t>صفحة المجموعة — تصفية وبحث ذكي بالعربية</a:t>
            </a:r>
            <a:endParaRPr lang="en-US" sz="1500" dirty="0"/>
          </a:p>
        </p:txBody>
      </p:sp>
      <p:sp>
        <p:nvSpPr>
          <p:cNvPr id="142" name="Shape 136"/>
          <p:cNvSpPr/>
          <p:nvPr/>
        </p:nvSpPr>
        <p:spPr>
          <a:xfrm>
            <a:off x="640080" y="18196560"/>
            <a:ext cx="6428232" cy="5029200"/>
          </a:xfrm>
          <a:prstGeom prst="roundRect">
            <a:avLst>
              <a:gd name="adj" fmla="val 1636"/>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143" name="Shape 137"/>
          <p:cNvSpPr/>
          <p:nvPr/>
        </p:nvSpPr>
        <p:spPr>
          <a:xfrm>
            <a:off x="6135624" y="18470880"/>
            <a:ext cx="566928" cy="566928"/>
          </a:xfrm>
          <a:prstGeom prst="ellipse">
            <a:avLst/>
          </a:prstGeom>
          <a:solidFill>
            <a:srgbClr val="3E6BB5"/>
          </a:solidFill>
          <a:ln/>
        </p:spPr>
      </p:sp>
      <p:sp>
        <p:nvSpPr>
          <p:cNvPr id="144" name="Text 138"/>
          <p:cNvSpPr/>
          <p:nvPr/>
        </p:nvSpPr>
        <p:spPr>
          <a:xfrm>
            <a:off x="6135624" y="1847088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iro" pitchFamily="34" charset="0"/>
                <a:ea typeface="Cairo" pitchFamily="34" charset="-122"/>
                <a:cs typeface="Cairo" pitchFamily="34" charset="-120"/>
              </a:rPr>
              <a:t>٦</a:t>
            </a:r>
            <a:endParaRPr lang="en-US" sz="2600" dirty="0"/>
          </a:p>
        </p:txBody>
      </p:sp>
      <p:sp>
        <p:nvSpPr>
          <p:cNvPr id="145" name="Text 139"/>
          <p:cNvSpPr/>
          <p:nvPr/>
        </p:nvSpPr>
        <p:spPr>
          <a:xfrm>
            <a:off x="1005840" y="18416016"/>
            <a:ext cx="4901184" cy="676656"/>
          </a:xfrm>
          <a:prstGeom prst="rect">
            <a:avLst/>
          </a:prstGeom>
          <a:noFill/>
          <a:ln/>
        </p:spPr>
        <p:txBody>
          <a:bodyPr wrap="square" lIns="0" tIns="0" rIns="0" bIns="0" rtlCol="0" anchor="ctr"/>
          <a:lstStyle/>
          <a:p>
            <a:pPr rtl="1" algn="r" indent="0" marL="0">
              <a:buNone/>
            </a:pPr>
            <a:r>
              <a:rPr lang="en-US" sz="3000" b="1" dirty="0">
                <a:solidFill>
                  <a:srgbClr val="1A2235"/>
                </a:solidFill>
                <a:latin typeface="Cairo" pitchFamily="34" charset="0"/>
                <a:ea typeface="Cairo" pitchFamily="34" charset="-122"/>
                <a:cs typeface="Cairo" pitchFamily="34" charset="-120"/>
              </a:rPr>
              <a:t>الخاتمة والمستقبل</a:t>
            </a:r>
            <a:endParaRPr lang="en-US" sz="3000" dirty="0"/>
          </a:p>
        </p:txBody>
      </p:sp>
      <p:sp>
        <p:nvSpPr>
          <p:cNvPr id="146" name="Text 140"/>
          <p:cNvSpPr/>
          <p:nvPr/>
        </p:nvSpPr>
        <p:spPr>
          <a:xfrm>
            <a:off x="1005840" y="19339560"/>
            <a:ext cx="5696712" cy="1371600"/>
          </a:xfrm>
          <a:prstGeom prst="rect">
            <a:avLst/>
          </a:prstGeom>
          <a:noFill/>
          <a:ln/>
        </p:spPr>
        <p:txBody>
          <a:bodyPr wrap="square" lIns="0" tIns="0" rIns="0" bIns="0" rtlCol="0" anchor="t"/>
          <a:lstStyle/>
          <a:p>
            <a:pPr rtl="1" algn="r" indent="0" marL="0">
              <a:lnSpc>
                <a:spcPct val="120000"/>
              </a:lnSpc>
              <a:buNone/>
            </a:pPr>
            <a:r>
              <a:rPr lang="en-US" sz="1850" dirty="0">
                <a:solidFill>
                  <a:srgbClr val="323D50"/>
                </a:solidFill>
                <a:latin typeface="Cairo" pitchFamily="34" charset="0"/>
                <a:ea typeface="Cairo" pitchFamily="34" charset="-122"/>
                <a:cs typeface="Cairo" pitchFamily="34" charset="-120"/>
              </a:rPr>
              <a:t>نجح المشروع في بناء منصة عربية متكاملة تعالج مشكلة شراء العطور أونلاين عبر الذكاء الاصطناعي ونظام العينات، وهي تعمل فعلياً على shama.ly.</a:t>
            </a:r>
            <a:endParaRPr lang="en-US" sz="1850" dirty="0"/>
          </a:p>
        </p:txBody>
      </p:sp>
      <p:sp>
        <p:nvSpPr>
          <p:cNvPr id="147" name="Text 141"/>
          <p:cNvSpPr/>
          <p:nvPr/>
        </p:nvSpPr>
        <p:spPr>
          <a:xfrm>
            <a:off x="1005840" y="20802600"/>
            <a:ext cx="5696712" cy="2286000"/>
          </a:xfrm>
          <a:prstGeom prst="rect">
            <a:avLst/>
          </a:prstGeom>
          <a:noFill/>
          <a:ln/>
        </p:spPr>
        <p:txBody>
          <a:bodyPr wrap="square" lIns="0" tIns="0" rIns="0" bIns="0" rtlCol="0" anchor="t"/>
          <a:lstStyle/>
          <a:p>
            <a:pPr rtl="1" algn="r" indent="0" marL="0">
              <a:lnSpc>
                <a:spcPct val="115000"/>
              </a:lnSpc>
              <a:spcAft>
                <a:spcPts val="1100"/>
              </a:spcAft>
              <a:buNone/>
            </a:pPr>
            <a:r>
              <a:rPr lang="en-US" sz="1800" dirty="0">
                <a:solidFill>
                  <a:srgbClr val="323D50"/>
                </a:solidFill>
                <a:latin typeface="Cairo" pitchFamily="34" charset="0"/>
                <a:ea typeface="Cairo" pitchFamily="34" charset="-122"/>
                <a:cs typeface="Cairo" pitchFamily="34" charset="-120"/>
              </a:rPr>
              <a:t>●  تطبيق هاتف أصلي عبر React Native / Expo.</a:t>
            </a:r>
            <a:endParaRPr lang="en-US" sz="1800" dirty="0"/>
          </a:p>
          <a:p>
            <a:pPr rtl="1" algn="r" indent="0" marL="0">
              <a:lnSpc>
                <a:spcPct val="115000"/>
              </a:lnSpc>
              <a:spcAft>
                <a:spcPts val="1100"/>
              </a:spcAft>
              <a:buNone/>
            </a:pPr>
            <a:r>
              <a:rPr lang="en-US" sz="1800" dirty="0">
                <a:solidFill>
                  <a:srgbClr val="323D50"/>
                </a:solidFill>
                <a:latin typeface="Cairo" pitchFamily="34" charset="0"/>
                <a:ea typeface="Cairo" pitchFamily="34" charset="-122"/>
                <a:cs typeface="Cairo" pitchFamily="34" charset="-120"/>
              </a:rPr>
              <a:t>●  بوابة دفع إلكتروني محلية ومحافظ رقمية.</a:t>
            </a:r>
            <a:endParaRPr lang="en-US" sz="1800" dirty="0"/>
          </a:p>
          <a:p>
            <a:pPr rtl="1" algn="r" indent="0" marL="0">
              <a:lnSpc>
                <a:spcPct val="115000"/>
              </a:lnSpc>
              <a:spcAft>
                <a:spcPts val="1100"/>
              </a:spcAft>
              <a:buNone/>
            </a:pPr>
            <a:r>
              <a:rPr lang="en-US" sz="1800" dirty="0">
                <a:solidFill>
                  <a:srgbClr val="323D50"/>
                </a:solidFill>
                <a:latin typeface="Cairo" pitchFamily="34" charset="0"/>
                <a:ea typeface="Cairo" pitchFamily="34" charset="-122"/>
                <a:cs typeface="Cairo" pitchFamily="34" charset="-120"/>
              </a:rPr>
              <a:t>●  برنامج ولاء ونقاط مكافآت.</a:t>
            </a:r>
            <a:endParaRPr lang="en-US" sz="1800" dirty="0"/>
          </a:p>
          <a:p>
            <a:pPr rtl="1" algn="r" indent="0" marL="0">
              <a:lnSpc>
                <a:spcPct val="115000"/>
              </a:lnSpc>
              <a:spcAft>
                <a:spcPts val="1100"/>
              </a:spcAft>
              <a:buNone/>
            </a:pPr>
            <a:r>
              <a:rPr lang="en-US" sz="1800" dirty="0">
                <a:solidFill>
                  <a:srgbClr val="323D50"/>
                </a:solidFill>
                <a:latin typeface="Cairo" pitchFamily="34" charset="0"/>
                <a:ea typeface="Cairo" pitchFamily="34" charset="-122"/>
                <a:cs typeface="Cairo" pitchFamily="34" charset="-120"/>
              </a:rPr>
              <a:t>●  التحول لمنصة متعددة البائعين Marketplace.</a:t>
            </a:r>
            <a:endParaRPr lang="en-US" sz="1800" dirty="0"/>
          </a:p>
        </p:txBody>
      </p:sp>
      <p:sp>
        <p:nvSpPr>
          <p:cNvPr id="148" name="Shape 142"/>
          <p:cNvSpPr/>
          <p:nvPr/>
        </p:nvSpPr>
        <p:spPr>
          <a:xfrm>
            <a:off x="640080" y="23637240"/>
            <a:ext cx="6428232" cy="4800600"/>
          </a:xfrm>
          <a:prstGeom prst="roundRect">
            <a:avLst>
              <a:gd name="adj" fmla="val 1714"/>
            </a:avLst>
          </a:prstGeom>
          <a:solidFill>
            <a:srgbClr val="FFFFFF"/>
          </a:solidFill>
          <a:ln w="12700">
            <a:solidFill>
              <a:srgbClr val="E3E9F2"/>
            </a:solidFill>
            <a:prstDash val="solid"/>
          </a:ln>
          <a:effectLst>
            <a:outerShdw sx="100000" sy="100000" kx="0" ky="0" algn="bl" rotWithShape="0" blurRad="127000" dist="38100" dir="5400000">
              <a:srgbClr val="1A2235">
                <a:alpha val="14000"/>
              </a:srgbClr>
            </a:outerShdw>
          </a:effectLst>
        </p:spPr>
      </p:sp>
      <p:sp>
        <p:nvSpPr>
          <p:cNvPr id="149" name="Shape 143"/>
          <p:cNvSpPr/>
          <p:nvPr/>
        </p:nvSpPr>
        <p:spPr>
          <a:xfrm>
            <a:off x="6135624" y="23911560"/>
            <a:ext cx="566928" cy="566928"/>
          </a:xfrm>
          <a:prstGeom prst="ellipse">
            <a:avLst/>
          </a:prstGeom>
          <a:solidFill>
            <a:srgbClr val="3E6BB5"/>
          </a:solidFill>
          <a:ln/>
        </p:spPr>
      </p:sp>
      <p:sp>
        <p:nvSpPr>
          <p:cNvPr id="150" name="Text 144"/>
          <p:cNvSpPr/>
          <p:nvPr/>
        </p:nvSpPr>
        <p:spPr>
          <a:xfrm>
            <a:off x="6135624" y="2391156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iro" pitchFamily="34" charset="0"/>
                <a:ea typeface="Cairo" pitchFamily="34" charset="-122"/>
                <a:cs typeface="Cairo" pitchFamily="34" charset="-120"/>
              </a:rPr>
              <a:t>٧</a:t>
            </a:r>
            <a:endParaRPr lang="en-US" sz="2600" dirty="0"/>
          </a:p>
        </p:txBody>
      </p:sp>
      <p:sp>
        <p:nvSpPr>
          <p:cNvPr id="151" name="Text 145"/>
          <p:cNvSpPr/>
          <p:nvPr/>
        </p:nvSpPr>
        <p:spPr>
          <a:xfrm>
            <a:off x="1005840" y="23856696"/>
            <a:ext cx="4901184" cy="676656"/>
          </a:xfrm>
          <a:prstGeom prst="rect">
            <a:avLst/>
          </a:prstGeom>
          <a:noFill/>
          <a:ln/>
        </p:spPr>
        <p:txBody>
          <a:bodyPr wrap="square" lIns="0" tIns="0" rIns="0" bIns="0" rtlCol="0" anchor="ctr"/>
          <a:lstStyle/>
          <a:p>
            <a:pPr rtl="1" algn="r" indent="0" marL="0">
              <a:buNone/>
            </a:pPr>
            <a:r>
              <a:rPr lang="en-US" sz="3000" b="1" dirty="0">
                <a:solidFill>
                  <a:srgbClr val="1A2235"/>
                </a:solidFill>
                <a:latin typeface="Cairo" pitchFamily="34" charset="0"/>
                <a:ea typeface="Cairo" pitchFamily="34" charset="-122"/>
                <a:cs typeface="Cairo" pitchFamily="34" charset="-120"/>
              </a:rPr>
              <a:t>المراجع والتواصل</a:t>
            </a:r>
            <a:endParaRPr lang="en-US" sz="3000" dirty="0"/>
          </a:p>
        </p:txBody>
      </p:sp>
      <p:sp>
        <p:nvSpPr>
          <p:cNvPr id="152" name="Text 146"/>
          <p:cNvSpPr/>
          <p:nvPr/>
        </p:nvSpPr>
        <p:spPr>
          <a:xfrm>
            <a:off x="1005840" y="24780240"/>
            <a:ext cx="5696712" cy="868680"/>
          </a:xfrm>
          <a:prstGeom prst="rect">
            <a:avLst/>
          </a:prstGeom>
          <a:noFill/>
          <a:ln/>
        </p:spPr>
        <p:txBody>
          <a:bodyPr wrap="square" lIns="0" tIns="0" rIns="0" bIns="0" rtlCol="0" anchor="t"/>
          <a:lstStyle/>
          <a:p>
            <a:pPr rtl="1" algn="r" indent="0" marL="0">
              <a:lnSpc>
                <a:spcPct val="115000"/>
              </a:lnSpc>
              <a:buNone/>
            </a:pPr>
            <a:r>
              <a:rPr lang="en-US" sz="1450" dirty="0">
                <a:solidFill>
                  <a:srgbClr val="6B7B8D"/>
                </a:solidFill>
                <a:latin typeface="Cairo" pitchFamily="34" charset="0"/>
                <a:ea typeface="Cairo" pitchFamily="34" charset="-122"/>
                <a:cs typeface="Cairo" pitchFamily="34" charset="-120"/>
              </a:rPr>
              <a:t>React (react.dev) · Supabase (supabase.com/docs) · OpenRouter (openrouter.ai/docs) · Vanex Delivery API · Remotion (remotion.dev)</a:t>
            </a:r>
            <a:endParaRPr lang="en-US" sz="1450" dirty="0"/>
          </a:p>
        </p:txBody>
      </p:sp>
      <p:sp>
        <p:nvSpPr>
          <p:cNvPr id="153" name="Shape 147"/>
          <p:cNvSpPr/>
          <p:nvPr/>
        </p:nvSpPr>
        <p:spPr>
          <a:xfrm>
            <a:off x="5010912" y="25740360"/>
            <a:ext cx="1828800" cy="1828800"/>
          </a:xfrm>
          <a:prstGeom prst="roundRect">
            <a:avLst>
              <a:gd name="adj" fmla="val 4000"/>
            </a:avLst>
          </a:prstGeom>
          <a:solidFill>
            <a:srgbClr val="FFFFFF"/>
          </a:solidFill>
          <a:ln w="19050">
            <a:solidFill>
              <a:srgbClr val="3E6BB5"/>
            </a:solidFill>
            <a:prstDash val="solid"/>
          </a:ln>
        </p:spPr>
      </p:sp>
      <p:pic>
        <p:nvPicPr>
          <p:cNvPr id="154" name="Image 4" descr="assets/qr-site.png">    </p:cNvPr>
          <p:cNvPicPr>
            <a:picLocks noChangeAspect="1"/>
          </p:cNvPicPr>
          <p:nvPr/>
        </p:nvPicPr>
        <p:blipFill>
          <a:blip r:embed="rId5"/>
          <a:stretch>
            <a:fillRect/>
          </a:stretch>
        </p:blipFill>
        <p:spPr>
          <a:xfrm>
            <a:off x="5148072" y="25877520"/>
            <a:ext cx="1554480" cy="1554480"/>
          </a:xfrm>
          <a:prstGeom prst="rect">
            <a:avLst/>
          </a:prstGeom>
        </p:spPr>
      </p:pic>
      <p:sp>
        <p:nvSpPr>
          <p:cNvPr id="155" name="Text 148"/>
          <p:cNvSpPr/>
          <p:nvPr/>
        </p:nvSpPr>
        <p:spPr>
          <a:xfrm>
            <a:off x="4736592" y="27596592"/>
            <a:ext cx="2377440" cy="347472"/>
          </a:xfrm>
          <a:prstGeom prst="rect">
            <a:avLst/>
          </a:prstGeom>
          <a:noFill/>
          <a:ln/>
        </p:spPr>
        <p:txBody>
          <a:bodyPr wrap="square" lIns="0" tIns="0" rIns="0" bIns="0" rtlCol="0" anchor="ctr"/>
          <a:lstStyle/>
          <a:p>
            <a:pPr rtl="1" algn="ctr" indent="0" marL="0">
              <a:buNone/>
            </a:pPr>
            <a:r>
              <a:rPr lang="en-US" sz="1400" b="1" dirty="0">
                <a:solidFill>
                  <a:srgbClr val="1A2235"/>
                </a:solidFill>
                <a:latin typeface="Cairo" pitchFamily="34" charset="0"/>
                <a:ea typeface="Cairo" pitchFamily="34" charset="-122"/>
                <a:cs typeface="Cairo" pitchFamily="34" charset="-120"/>
              </a:rPr>
              <a:t>الموقع الحي — shama.ly</a:t>
            </a:r>
            <a:endParaRPr lang="en-US" sz="1400" dirty="0"/>
          </a:p>
        </p:txBody>
      </p:sp>
      <p:sp>
        <p:nvSpPr>
          <p:cNvPr id="156" name="Shape 149"/>
          <p:cNvSpPr/>
          <p:nvPr/>
        </p:nvSpPr>
        <p:spPr>
          <a:xfrm>
            <a:off x="2679192" y="25740360"/>
            <a:ext cx="1828800" cy="1828800"/>
          </a:xfrm>
          <a:prstGeom prst="roundRect">
            <a:avLst>
              <a:gd name="adj" fmla="val 4000"/>
            </a:avLst>
          </a:prstGeom>
          <a:solidFill>
            <a:srgbClr val="FFFFFF"/>
          </a:solidFill>
          <a:ln w="19050">
            <a:solidFill>
              <a:srgbClr val="3E6BB5"/>
            </a:solidFill>
            <a:prstDash val="solid"/>
          </a:ln>
        </p:spPr>
      </p:sp>
      <p:pic>
        <p:nvPicPr>
          <p:cNvPr id="157" name="Image 5" descr="assets/qr-github.png">    </p:cNvPr>
          <p:cNvPicPr>
            <a:picLocks noChangeAspect="1"/>
          </p:cNvPicPr>
          <p:nvPr/>
        </p:nvPicPr>
        <p:blipFill>
          <a:blip r:embed="rId6"/>
          <a:stretch>
            <a:fillRect/>
          </a:stretch>
        </p:blipFill>
        <p:spPr>
          <a:xfrm>
            <a:off x="2816352" y="25877520"/>
            <a:ext cx="1554480" cy="1554480"/>
          </a:xfrm>
          <a:prstGeom prst="rect">
            <a:avLst/>
          </a:prstGeom>
        </p:spPr>
      </p:pic>
      <p:sp>
        <p:nvSpPr>
          <p:cNvPr id="158" name="Text 150"/>
          <p:cNvSpPr/>
          <p:nvPr/>
        </p:nvSpPr>
        <p:spPr>
          <a:xfrm>
            <a:off x="2404872" y="27596592"/>
            <a:ext cx="2377440" cy="347472"/>
          </a:xfrm>
          <a:prstGeom prst="rect">
            <a:avLst/>
          </a:prstGeom>
          <a:noFill/>
          <a:ln/>
        </p:spPr>
        <p:txBody>
          <a:bodyPr wrap="square" lIns="0" tIns="0" rIns="0" bIns="0" rtlCol="0" anchor="ctr"/>
          <a:lstStyle/>
          <a:p>
            <a:pPr rtl="1" algn="ctr" indent="0" marL="0">
              <a:buNone/>
            </a:pPr>
            <a:r>
              <a:rPr lang="en-US" sz="1400" b="1" dirty="0">
                <a:solidFill>
                  <a:srgbClr val="1A2235"/>
                </a:solidFill>
                <a:latin typeface="Cairo" pitchFamily="34" charset="0"/>
                <a:ea typeface="Cairo" pitchFamily="34" charset="-122"/>
                <a:cs typeface="Cairo" pitchFamily="34" charset="-120"/>
              </a:rPr>
              <a:t>الكود المصدري — GitHub</a:t>
            </a:r>
            <a:endParaRPr lang="en-US" sz="1400" dirty="0"/>
          </a:p>
        </p:txBody>
      </p:sp>
      <p:sp>
        <p:nvSpPr>
          <p:cNvPr id="159" name="Text 151"/>
          <p:cNvSpPr/>
          <p:nvPr/>
        </p:nvSpPr>
        <p:spPr>
          <a:xfrm>
            <a:off x="868680" y="25831800"/>
            <a:ext cx="1645920" cy="1828800"/>
          </a:xfrm>
          <a:prstGeom prst="rect">
            <a:avLst/>
          </a:prstGeom>
          <a:noFill/>
          <a:ln/>
        </p:spPr>
        <p:txBody>
          <a:bodyPr wrap="square" lIns="0" tIns="0" rIns="0" bIns="0" rtlCol="0" anchor="t"/>
          <a:lstStyle/>
          <a:p>
            <a:pPr rtl="1" algn="r" indent="0" marL="0">
              <a:lnSpc>
                <a:spcPct val="135000"/>
              </a:lnSpc>
              <a:buNone/>
            </a:pPr>
            <a:r>
              <a:rPr lang="en-US" sz="1600" b="1" dirty="0">
                <a:solidFill>
                  <a:srgbClr val="3E6BB5"/>
                </a:solidFill>
                <a:latin typeface="Cairo" pitchFamily="34" charset="0"/>
                <a:ea typeface="Cairo" pitchFamily="34" charset="-122"/>
                <a:cs typeface="Cairo" pitchFamily="34" charset="-120"/>
              </a:rPr>
              <a:t>للتواصل</a:t>
            </a:r>
            <a:endParaRPr lang="en-US" sz="1600" dirty="0"/>
          </a:p>
          <a:p>
            <a:pPr rtl="1" algn="r" indent="0" marL="0">
              <a:lnSpc>
                <a:spcPct val="135000"/>
              </a:lnSpc>
              <a:buNone/>
            </a:pPr>
            <a:r>
              <a:rPr lang="en-US" sz="1400" dirty="0">
                <a:solidFill>
                  <a:srgbClr val="323D50"/>
                </a:solidFill>
                <a:latin typeface="Cairo" pitchFamily="34" charset="0"/>
                <a:ea typeface="Cairo" pitchFamily="34" charset="-122"/>
                <a:cs typeface="Cairo" pitchFamily="34" charset="-120"/>
              </a:rPr>
              <a:t>البريد: ________</a:t>
            </a:r>
            <a:endParaRPr lang="en-US" sz="1600" dirty="0"/>
          </a:p>
          <a:p>
            <a:pPr rtl="1" algn="r" indent="0" marL="0">
              <a:lnSpc>
                <a:spcPct val="135000"/>
              </a:lnSpc>
              <a:buNone/>
            </a:pPr>
            <a:r>
              <a:rPr lang="en-US" sz="1400" dirty="0">
                <a:solidFill>
                  <a:srgbClr val="323D50"/>
                </a:solidFill>
                <a:latin typeface="Cairo" pitchFamily="34" charset="0"/>
                <a:ea typeface="Cairo" pitchFamily="34" charset="-122"/>
                <a:cs typeface="Cairo" pitchFamily="34" charset="-120"/>
              </a:rPr>
              <a:t>هاتف: ________</a:t>
            </a:r>
            <a:endParaRPr lang="en-US" sz="1600" dirty="0"/>
          </a:p>
        </p:txBody>
      </p:sp>
      <p:sp>
        <p:nvSpPr>
          <p:cNvPr id="160" name="Shape 152"/>
          <p:cNvSpPr/>
          <p:nvPr/>
        </p:nvSpPr>
        <p:spPr>
          <a:xfrm>
            <a:off x="0" y="28849320"/>
            <a:ext cx="21387816" cy="54864"/>
          </a:xfrm>
          <a:prstGeom prst="rect">
            <a:avLst/>
          </a:prstGeom>
          <a:solidFill>
            <a:srgbClr val="F0C03E"/>
          </a:solidFill>
          <a:ln/>
        </p:spPr>
      </p:sp>
      <p:sp>
        <p:nvSpPr>
          <p:cNvPr id="161" name="Shape 153"/>
          <p:cNvSpPr/>
          <p:nvPr/>
        </p:nvSpPr>
        <p:spPr>
          <a:xfrm>
            <a:off x="0" y="28904184"/>
            <a:ext cx="21387816" cy="1371600"/>
          </a:xfrm>
          <a:prstGeom prst="rect">
            <a:avLst/>
          </a:prstGeom>
          <a:solidFill>
            <a:srgbClr val="1A2235"/>
          </a:solidFill>
          <a:ln/>
        </p:spPr>
      </p:sp>
      <p:sp>
        <p:nvSpPr>
          <p:cNvPr id="162" name="Text 154"/>
          <p:cNvSpPr/>
          <p:nvPr/>
        </p:nvSpPr>
        <p:spPr>
          <a:xfrm>
            <a:off x="0" y="28904184"/>
            <a:ext cx="21387816" cy="1371600"/>
          </a:xfrm>
          <a:prstGeom prst="rect">
            <a:avLst/>
          </a:prstGeom>
          <a:noFill/>
          <a:ln/>
        </p:spPr>
        <p:txBody>
          <a:bodyPr wrap="square" lIns="0" tIns="0" rIns="0" bIns="0" rtlCol="0" anchor="ctr"/>
          <a:lstStyle/>
          <a:p>
            <a:pPr rtl="1" algn="ctr" indent="0" marL="0">
              <a:buNone/>
            </a:pPr>
            <a:r>
              <a:rPr lang="en-US" sz="1900" dirty="0">
                <a:solidFill>
                  <a:srgbClr val="CADCFC"/>
                </a:solidFill>
                <a:latin typeface="Cairo" pitchFamily="34" charset="0"/>
                <a:ea typeface="Cairo" pitchFamily="34" charset="-122"/>
                <a:cs typeface="Cairo" pitchFamily="34" charset="-120"/>
              </a:rPr>
              <a:t>مشروع تخرج — جامعة الرفاق · كلية تقنية المعلومات · 2025/2026          |          shama.ly</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Shama Graduation Poster</dc:title>
  <dc:subject>PptxGenJS Presentation</dc:subject>
  <dc:creator>PptxGenJS</dc:creator>
  <cp:lastModifiedBy>PptxGenJS</cp:lastModifiedBy>
  <cp:revision>1</cp:revision>
  <dcterms:created xsi:type="dcterms:W3CDTF">2026-06-10T22:24:08Z</dcterms:created>
  <dcterms:modified xsi:type="dcterms:W3CDTF">2026-06-10T22:24:08Z</dcterms:modified>
</cp:coreProperties>
</file>